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6"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8" r:id="rId18"/>
    <p:sldId id="272" r:id="rId19"/>
    <p:sldId id="287" r:id="rId20"/>
    <p:sldId id="273" r:id="rId21"/>
    <p:sldId id="274" r:id="rId22"/>
    <p:sldId id="275" r:id="rId23"/>
    <p:sldId id="276" r:id="rId24"/>
    <p:sldId id="277" r:id="rId25"/>
    <p:sldId id="278" r:id="rId26"/>
    <p:sldId id="279" r:id="rId27"/>
    <p:sldId id="280" r:id="rId28"/>
    <p:sldId id="281" r:id="rId29"/>
    <p:sldId id="282" r:id="rId30"/>
    <p:sldId id="289"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BC5A29-4229-4DCB-8CEC-60E60258DE54}" v="4" dt="2025-06-07T15:43:37.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4" d="100"/>
          <a:sy n="64" d="100"/>
        </p:scale>
        <p:origin x="15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mu gulla" userId="cc4ff34a295d00e9" providerId="LiveId" clId="{EBBC5A29-4229-4DCB-8CEC-60E60258DE54}"/>
    <pc:docChg chg="custSel addSld delSld modSld">
      <pc:chgData name="chamu gulla" userId="cc4ff34a295d00e9" providerId="LiveId" clId="{EBBC5A29-4229-4DCB-8CEC-60E60258DE54}" dt="2025-06-07T15:43:52.866" v="80" actId="14100"/>
      <pc:docMkLst>
        <pc:docMk/>
      </pc:docMkLst>
      <pc:sldChg chg="modSp add mod">
        <pc:chgData name="chamu gulla" userId="cc4ff34a295d00e9" providerId="LiveId" clId="{EBBC5A29-4229-4DCB-8CEC-60E60258DE54}" dt="2025-06-07T15:42:26.558" v="72" actId="27636"/>
        <pc:sldMkLst>
          <pc:docMk/>
          <pc:sldMk cId="4252168290" sldId="256"/>
        </pc:sldMkLst>
        <pc:spChg chg="mod">
          <ac:chgData name="chamu gulla" userId="cc4ff34a295d00e9" providerId="LiveId" clId="{EBBC5A29-4229-4DCB-8CEC-60E60258DE54}" dt="2025-06-07T15:42:26.558" v="72" actId="27636"/>
          <ac:spMkLst>
            <pc:docMk/>
            <pc:sldMk cId="4252168290" sldId="256"/>
            <ac:spMk id="4" creationId="{00000000-0000-0000-0000-000000000000}"/>
          </ac:spMkLst>
        </pc:spChg>
      </pc:sldChg>
      <pc:sldChg chg="del">
        <pc:chgData name="chamu gulla" userId="cc4ff34a295d00e9" providerId="LiveId" clId="{EBBC5A29-4229-4DCB-8CEC-60E60258DE54}" dt="2025-06-07T15:43:41.105" v="78" actId="47"/>
        <pc:sldMkLst>
          <pc:docMk/>
          <pc:sldMk cId="1215284033" sldId="283"/>
        </pc:sldMkLst>
      </pc:sldChg>
      <pc:sldChg chg="del">
        <pc:chgData name="chamu gulla" userId="cc4ff34a295d00e9" providerId="LiveId" clId="{EBBC5A29-4229-4DCB-8CEC-60E60258DE54}" dt="2025-06-07T15:43:14.582" v="76" actId="47"/>
        <pc:sldMkLst>
          <pc:docMk/>
          <pc:sldMk cId="388017505" sldId="284"/>
        </pc:sldMkLst>
      </pc:sldChg>
      <pc:sldChg chg="del">
        <pc:chgData name="chamu gulla" userId="cc4ff34a295d00e9" providerId="LiveId" clId="{EBBC5A29-4229-4DCB-8CEC-60E60258DE54}" dt="2025-06-07T15:43:13.969" v="75" actId="47"/>
        <pc:sldMkLst>
          <pc:docMk/>
          <pc:sldMk cId="706919066" sldId="285"/>
        </pc:sldMkLst>
      </pc:sldChg>
      <pc:sldChg chg="del">
        <pc:chgData name="chamu gulla" userId="cc4ff34a295d00e9" providerId="LiveId" clId="{EBBC5A29-4229-4DCB-8CEC-60E60258DE54}" dt="2025-06-07T15:43:12.853" v="74" actId="47"/>
        <pc:sldMkLst>
          <pc:docMk/>
          <pc:sldMk cId="594539656" sldId="286"/>
        </pc:sldMkLst>
      </pc:sldChg>
      <pc:sldChg chg="new del">
        <pc:chgData name="chamu gulla" userId="cc4ff34a295d00e9" providerId="LiveId" clId="{EBBC5A29-4229-4DCB-8CEC-60E60258DE54}" dt="2025-06-07T15:43:04.998" v="73" actId="47"/>
        <pc:sldMkLst>
          <pc:docMk/>
          <pc:sldMk cId="960083133" sldId="289"/>
        </pc:sldMkLst>
      </pc:sldChg>
      <pc:sldChg chg="modSp add mod">
        <pc:chgData name="chamu gulla" userId="cc4ff34a295d00e9" providerId="LiveId" clId="{EBBC5A29-4229-4DCB-8CEC-60E60258DE54}" dt="2025-06-07T15:43:52.866" v="80" actId="14100"/>
        <pc:sldMkLst>
          <pc:docMk/>
          <pc:sldMk cId="1588296480" sldId="289"/>
        </pc:sldMkLst>
        <pc:spChg chg="mod">
          <ac:chgData name="chamu gulla" userId="cc4ff34a295d00e9" providerId="LiveId" clId="{EBBC5A29-4229-4DCB-8CEC-60E60258DE54}" dt="2025-06-07T15:43:52.866" v="80" actId="14100"/>
          <ac:spMkLst>
            <pc:docMk/>
            <pc:sldMk cId="1588296480" sldId="28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3E96B-ED0C-4AF8-9B0C-1AA7AE51037D}" type="datetimeFigureOut">
              <a:rPr lang="en-US" smtClean="0"/>
              <a:t>6/7/2025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A325A1-DF0D-417E-A869-5AD070CCEDE3}" type="slidenum">
              <a:rPr lang="en-US" smtClean="0"/>
              <a:t>‹#›</a:t>
            </a:fld>
            <a:endParaRPr lang="en-US"/>
          </a:p>
        </p:txBody>
      </p:sp>
    </p:spTree>
    <p:extLst>
      <p:ext uri="{BB962C8B-B14F-4D97-AF65-F5344CB8AC3E}">
        <p14:creationId xmlns:p14="http://schemas.microsoft.com/office/powerpoint/2010/main" val="2984378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5"/>
        <p:cNvGrpSpPr/>
        <p:nvPr/>
      </p:nvGrpSpPr>
      <p:grpSpPr>
        <a:xfrm>
          <a:off x="0" y="0"/>
          <a:ext cx="0" cy="0"/>
          <a:chOff x="0" y="0"/>
          <a:chExt cx="0" cy="0"/>
        </a:xfrm>
      </p:grpSpPr>
      <p:sp>
        <p:nvSpPr>
          <p:cNvPr id="2946" name="Google Shape;294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7" name="Google Shape;294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A325A1-DF0D-417E-A869-5AD070CCEDE3}" type="slidenum">
              <a:rPr lang="en-US" smtClean="0"/>
              <a:t>7</a:t>
            </a:fld>
            <a:endParaRPr lang="en-US"/>
          </a:p>
        </p:txBody>
      </p:sp>
    </p:spTree>
    <p:extLst>
      <p:ext uri="{BB962C8B-B14F-4D97-AF65-F5344CB8AC3E}">
        <p14:creationId xmlns:p14="http://schemas.microsoft.com/office/powerpoint/2010/main" val="485575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1238820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459830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1441674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A9E174-3DB4-41C1-AA16-AE2A34B91AB9}"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382020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A9E174-3DB4-41C1-AA16-AE2A34B91AB9}" type="datetimeFigureOut">
              <a:rPr lang="en-US" smtClean="0"/>
              <a:t>6/7/2025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151276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A9E174-3DB4-41C1-AA16-AE2A34B91AB9}" type="datetimeFigureOut">
              <a:rPr lang="en-US" smtClean="0"/>
              <a:t>6/7/2025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1042963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A9E174-3DB4-41C1-AA16-AE2A34B91AB9}" type="datetimeFigureOut">
              <a:rPr lang="en-US" smtClean="0"/>
              <a:t>6/7/2025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3633777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A9E174-3DB4-41C1-AA16-AE2A34B91AB9}"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237835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A9E174-3DB4-41C1-AA16-AE2A34B91AB9}"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2989878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175113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48686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3094709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53371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727628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1920456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A9E174-3DB4-41C1-AA16-AE2A34B91AB9}"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BA7BEA-CF2A-40BC-8365-45E30767C07F}" type="slidenum">
              <a:rPr lang="en-US" smtClean="0"/>
              <a:t>‹#›</a:t>
            </a:fld>
            <a:endParaRPr lang="en-US"/>
          </a:p>
        </p:txBody>
      </p:sp>
    </p:spTree>
    <p:extLst>
      <p:ext uri="{BB962C8B-B14F-4D97-AF65-F5344CB8AC3E}">
        <p14:creationId xmlns:p14="http://schemas.microsoft.com/office/powerpoint/2010/main" val="45439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BA9E174-3DB4-41C1-AA16-AE2A34B91AB9}" type="datetimeFigureOut">
              <a:rPr lang="en-US" smtClean="0"/>
              <a:t>6/7/2025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DBA7BEA-CF2A-40BC-8365-45E30767C07F}" type="slidenum">
              <a:rPr lang="en-US" smtClean="0"/>
              <a:t>‹#›</a:t>
            </a:fld>
            <a:endParaRPr lang="en-US"/>
          </a:p>
        </p:txBody>
      </p:sp>
    </p:spTree>
    <p:extLst>
      <p:ext uri="{BB962C8B-B14F-4D97-AF65-F5344CB8AC3E}">
        <p14:creationId xmlns:p14="http://schemas.microsoft.com/office/powerpoint/2010/main" val="844723691"/>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 id="2147483898" r:id="rId12"/>
    <p:sldLayoutId id="2147483899" r:id="rId13"/>
    <p:sldLayoutId id="2147483900" r:id="rId14"/>
    <p:sldLayoutId id="2147483901" r:id="rId15"/>
    <p:sldLayoutId id="21474839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gif"/></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hyperlink" Target="https://chatgpt.com/c/68260d95-7de0-800a-9445-99fbc3dbadf3" TargetMode="External"/><Relationship Id="rId3" Type="http://schemas.openxmlformats.org/officeDocument/2006/relationships/hyperlink" Target="https://my.clevelandclinic.org/health/diseases/4375-lung-cancer" TargetMode="External"/><Relationship Id="rId7" Type="http://schemas.openxmlformats.org/officeDocument/2006/relationships/hyperlink" Target="https://www.unife.it/economia/lm.economics/lectures/applied-econometrics/materiale-didattico-2018-2019/Maddala.pdf" TargetMode="External"/><Relationship Id="rId2" Type="http://schemas.openxmlformats.org/officeDocument/2006/relationships/hyperlink" Target="https://www.kaggle.com/datasets/akashnath29/lung-cancer-dataset" TargetMode="External"/><Relationship Id="rId1" Type="http://schemas.openxmlformats.org/officeDocument/2006/relationships/slideLayout" Target="../slideLayouts/slideLayout7.xml"/><Relationship Id="rId6" Type="http://schemas.openxmlformats.org/officeDocument/2006/relationships/hyperlink" Target="https://stats.oarc.ucla.edu/r/dae/logit-regression/" TargetMode="External"/><Relationship Id="rId5" Type="http://schemas.openxmlformats.org/officeDocument/2006/relationships/hyperlink" Target="https://en.m.wikipedia.org/wiki/Logistic_regression" TargetMode="External"/><Relationship Id="rId4" Type="http://schemas.openxmlformats.org/officeDocument/2006/relationships/hyperlink" Target="https://sjcit.ac.in/wp-content/uploads/2022/11/006007027028.pdf"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514600" y="1905000"/>
            <a:ext cx="7772400" cy="4572000"/>
          </a:xfrm>
        </p:spPr>
        <p:txBody>
          <a:bodyPr>
            <a:normAutofit fontScale="47500" lnSpcReduction="20000"/>
          </a:bodyPr>
          <a:lstStyle/>
          <a:p>
            <a:pPr marL="0" indent="0" algn="ctr">
              <a:buNone/>
            </a:pPr>
            <a:endParaRPr lang="en-US" dirty="0">
              <a:latin typeface="Times New Roman" pitchFamily="18" charset="0"/>
              <a:cs typeface="Times New Roman" pitchFamily="18" charset="0"/>
            </a:endParaRP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OUR TEAM MEMBERS</a:t>
            </a:r>
          </a:p>
          <a:p>
            <a:pPr marL="0" lvl="0" indent="0" algn="ctr">
              <a:spcBef>
                <a:spcPts val="0"/>
              </a:spcBef>
              <a:buNone/>
            </a:pPr>
            <a:endParaRPr lang="en-US" sz="3800" b="1" dirty="0">
              <a:solidFill>
                <a:schemeClr val="dk1"/>
              </a:solidFill>
              <a:latin typeface="Times New Roman" panose="02020603050405020304" pitchFamily="18" charset="0"/>
              <a:cs typeface="Times New Roman" panose="02020603050405020304" pitchFamily="18" charset="0"/>
            </a:endParaRP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A. DEVI LIKITHA (Y24ST20002)</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B. ARUN KUMAR(Y24ST20003)</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B. VIVEK(Y24ST20005)</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CH. HARITHA(Y24ST20006)</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G. SRAVANI(Y24ST20012)</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G. CHAMUMDESWARI(Y24ST20013)</a:t>
            </a:r>
          </a:p>
          <a:p>
            <a:pPr marL="0" lvl="0" indent="0" algn="ctr">
              <a:spcBef>
                <a:spcPts val="0"/>
              </a:spcBef>
              <a:buNone/>
            </a:pPr>
            <a:endParaRPr lang="en-US" sz="3800" b="1" dirty="0">
              <a:solidFill>
                <a:schemeClr val="dk1"/>
              </a:solidFill>
              <a:latin typeface="Times New Roman" panose="02020603050405020304" pitchFamily="18" charset="0"/>
              <a:cs typeface="Times New Roman" panose="02020603050405020304" pitchFamily="18" charset="0"/>
            </a:endParaRP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PROJECT SUPERVISOR</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DR.A.VASUDEVA RAO</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HONORARY PROFESSOR</a:t>
            </a:r>
          </a:p>
          <a:p>
            <a:pPr marL="0" lvl="0" indent="0" algn="ctr">
              <a:spcBef>
                <a:spcPts val="0"/>
              </a:spcBef>
              <a:buNone/>
            </a:pPr>
            <a:endParaRPr lang="en-US" sz="3800" b="1" dirty="0">
              <a:solidFill>
                <a:schemeClr val="dk1"/>
              </a:solidFill>
              <a:latin typeface="Times New Roman" panose="02020603050405020304" pitchFamily="18" charset="0"/>
              <a:cs typeface="Times New Roman" panose="02020603050405020304" pitchFamily="18" charset="0"/>
            </a:endParaRP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DEPARTMENT OF STATISTICS</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ACHARYA NAGARJUNA UNIVERSITY</a:t>
            </a:r>
          </a:p>
          <a:p>
            <a:pPr marL="0" lvl="0" indent="0" algn="ctr">
              <a:spcBef>
                <a:spcPts val="0"/>
              </a:spcBef>
              <a:buNone/>
            </a:pPr>
            <a:r>
              <a:rPr lang="en-US" sz="3800" b="1" dirty="0">
                <a:solidFill>
                  <a:schemeClr val="dk1"/>
                </a:solidFill>
                <a:latin typeface="Times New Roman" panose="02020603050405020304" pitchFamily="18" charset="0"/>
                <a:cs typeface="Times New Roman" panose="02020603050405020304" pitchFamily="18" charset="0"/>
              </a:rPr>
              <a:t>NAGARJUNA NAGAR</a:t>
            </a:r>
          </a:p>
          <a:p>
            <a:pPr marL="0" indent="0" algn="ctr">
              <a:buNone/>
            </a:pPr>
            <a:endParaRPr lang="en-US" dirty="0">
              <a:latin typeface="Times New Roman" pitchFamily="18" charset="0"/>
              <a:cs typeface="Times New Roman" pitchFamily="18" charset="0"/>
            </a:endParaRPr>
          </a:p>
          <a:p>
            <a:pPr marL="0" indent="0">
              <a:buNone/>
            </a:pPr>
            <a:endParaRPr lang="en-US" dirty="0"/>
          </a:p>
          <a:p>
            <a:pPr marL="0" indent="0">
              <a:buNone/>
            </a:pPr>
            <a:r>
              <a:rPr lang="en-IN" dirty="0"/>
              <a:t>       </a:t>
            </a:r>
            <a:endParaRPr lang="en-US" dirty="0"/>
          </a:p>
          <a:p>
            <a:pPr marL="0" indent="0" algn="ctr">
              <a:buNone/>
            </a:pPr>
            <a:endParaRPr lang="en-US" dirty="0">
              <a:latin typeface="Times New Roman" pitchFamily="18" charset="0"/>
              <a:cs typeface="Times New Roman" pitchFamily="18" charset="0"/>
            </a:endParaRPr>
          </a:p>
          <a:p>
            <a:pPr marL="0" indent="0" algn="ctr">
              <a:buNone/>
            </a:pPr>
            <a:endParaRPr lang="en-US" sz="4800" dirty="0">
              <a:latin typeface="Times New Roman" pitchFamily="18" charset="0"/>
              <a:cs typeface="Times New Roman" pitchFamily="18" charset="0"/>
            </a:endParaRPr>
          </a:p>
          <a:p>
            <a:pPr marL="0" indent="0" algn="ctr">
              <a:buNone/>
            </a:pPr>
            <a:endParaRPr lang="en-US" sz="4800" dirty="0"/>
          </a:p>
          <a:p>
            <a:pPr marL="0" indent="0" algn="ctr">
              <a:buNone/>
            </a:pPr>
            <a:endParaRPr lang="en-US" sz="4800" dirty="0"/>
          </a:p>
          <a:p>
            <a:pPr marL="0" indent="0" algn="ctr">
              <a:buNone/>
            </a:pPr>
            <a:endParaRPr lang="en-US" dirty="0"/>
          </a:p>
        </p:txBody>
      </p:sp>
      <p:sp>
        <p:nvSpPr>
          <p:cNvPr id="2" name="Title 1"/>
          <p:cNvSpPr>
            <a:spLocks noGrp="1"/>
          </p:cNvSpPr>
          <p:nvPr>
            <p:ph type="title"/>
          </p:nvPr>
        </p:nvSpPr>
        <p:spPr>
          <a:xfrm>
            <a:off x="3048000" y="-685800"/>
            <a:ext cx="6400800" cy="1752600"/>
          </a:xfrm>
        </p:spPr>
        <p:txBody>
          <a:bodyPr>
            <a:noAutofit/>
          </a:bodyPr>
          <a:lstStyle/>
          <a:p>
            <a:r>
              <a:rPr lang="en-IN" sz="8800" b="1" dirty="0">
                <a:latin typeface="Times New Roman" pitchFamily="18" charset="0"/>
                <a:cs typeface="Times New Roman" pitchFamily="18" charset="0"/>
              </a:rPr>
              <a:t>  WELCOME</a:t>
            </a:r>
            <a:endParaRPr lang="en-US" sz="8800" dirty="0">
              <a:latin typeface="Times New Roman" pitchFamily="18" charset="0"/>
              <a:cs typeface="Times New Roman" pitchFamily="18" charset="0"/>
            </a:endParaRPr>
          </a:p>
        </p:txBody>
      </p:sp>
    </p:spTree>
    <p:extLst>
      <p:ext uri="{BB962C8B-B14F-4D97-AF65-F5344CB8AC3E}">
        <p14:creationId xmlns:p14="http://schemas.microsoft.com/office/powerpoint/2010/main" val="425216829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948"/>
        <p:cNvGrpSpPr/>
        <p:nvPr/>
      </p:nvGrpSpPr>
      <p:grpSpPr>
        <a:xfrm>
          <a:off x="0" y="0"/>
          <a:ext cx="0" cy="0"/>
          <a:chOff x="0" y="0"/>
          <a:chExt cx="0" cy="0"/>
        </a:xfrm>
      </p:grpSpPr>
      <p:pic>
        <p:nvPicPr>
          <p:cNvPr id="2949" name="Google Shape;2949;p63"/>
          <p:cNvPicPr preferRelativeResize="0"/>
          <p:nvPr/>
        </p:nvPicPr>
        <p:blipFill>
          <a:blip r:embed="rId3">
            <a:alphaModFix/>
          </a:blip>
          <a:stretch>
            <a:fillRect/>
          </a:stretch>
        </p:blipFill>
        <p:spPr>
          <a:xfrm>
            <a:off x="771534" y="1094934"/>
            <a:ext cx="2858399" cy="2862599"/>
          </a:xfrm>
          <a:prstGeom prst="rect">
            <a:avLst/>
          </a:prstGeom>
          <a:noFill/>
          <a:ln>
            <a:noFill/>
          </a:ln>
        </p:spPr>
      </p:pic>
      <p:grpSp>
        <p:nvGrpSpPr>
          <p:cNvPr id="2950" name="Google Shape;2950;p63"/>
          <p:cNvGrpSpPr/>
          <p:nvPr/>
        </p:nvGrpSpPr>
        <p:grpSpPr>
          <a:xfrm>
            <a:off x="140128" y="798285"/>
            <a:ext cx="3519093" cy="3643085"/>
            <a:chOff x="720003" y="1349752"/>
            <a:chExt cx="2639320" cy="2415425"/>
          </a:xfrm>
        </p:grpSpPr>
        <p:sp>
          <p:nvSpPr>
            <p:cNvPr id="2951" name="Google Shape;2951;p63"/>
            <p:cNvSpPr/>
            <p:nvPr/>
          </p:nvSpPr>
          <p:spPr>
            <a:xfrm>
              <a:off x="1530718" y="3735282"/>
              <a:ext cx="2638" cy="400"/>
            </a:xfrm>
            <a:custGeom>
              <a:avLst/>
              <a:gdLst/>
              <a:ahLst/>
              <a:cxnLst/>
              <a:rect l="l" t="t" r="r" b="b"/>
              <a:pathLst>
                <a:path w="33" h="5" extrusionOk="0">
                  <a:moveTo>
                    <a:pt x="5" y="0"/>
                  </a:moveTo>
                  <a:lnTo>
                    <a:pt x="0" y="5"/>
                  </a:lnTo>
                  <a:lnTo>
                    <a:pt x="5" y="0"/>
                  </a:lnTo>
                  <a:close/>
                  <a:moveTo>
                    <a:pt x="9" y="0"/>
                  </a:moveTo>
                  <a:lnTo>
                    <a:pt x="9" y="0"/>
                  </a:lnTo>
                  <a:lnTo>
                    <a:pt x="9" y="0"/>
                  </a:lnTo>
                  <a:close/>
                  <a:moveTo>
                    <a:pt x="24" y="0"/>
                  </a:moveTo>
                  <a:lnTo>
                    <a:pt x="18" y="0"/>
                  </a:lnTo>
                  <a:lnTo>
                    <a:pt x="24" y="0"/>
                  </a:lnTo>
                  <a:close/>
                  <a:moveTo>
                    <a:pt x="33" y="0"/>
                  </a:moveTo>
                  <a:lnTo>
                    <a:pt x="33" y="0"/>
                  </a:lnTo>
                  <a:close/>
                </a:path>
              </a:pathLst>
            </a:custGeom>
            <a:solidFill>
              <a:srgbClr val="F8706A"/>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2" name="Google Shape;2952;p63"/>
            <p:cNvSpPr/>
            <p:nvPr/>
          </p:nvSpPr>
          <p:spPr>
            <a:xfrm>
              <a:off x="1854300" y="2487001"/>
              <a:ext cx="80" cy="349156"/>
            </a:xfrm>
            <a:custGeom>
              <a:avLst/>
              <a:gdLst/>
              <a:ahLst/>
              <a:cxnLst/>
              <a:rect l="l" t="t" r="r" b="b"/>
              <a:pathLst>
                <a:path w="1" h="4368" extrusionOk="0">
                  <a:moveTo>
                    <a:pt x="0" y="1"/>
                  </a:moveTo>
                  <a:lnTo>
                    <a:pt x="0" y="1"/>
                  </a:lnTo>
                  <a:lnTo>
                    <a:pt x="0" y="4367"/>
                  </a:lnTo>
                  <a:lnTo>
                    <a:pt x="0" y="4367"/>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3" name="Google Shape;2953;p63"/>
            <p:cNvSpPr/>
            <p:nvPr/>
          </p:nvSpPr>
          <p:spPr>
            <a:xfrm>
              <a:off x="1849104" y="2487001"/>
              <a:ext cx="5276" cy="349156"/>
            </a:xfrm>
            <a:custGeom>
              <a:avLst/>
              <a:gdLst/>
              <a:ahLst/>
              <a:cxnLst/>
              <a:rect l="l" t="t" r="r" b="b"/>
              <a:pathLst>
                <a:path w="66" h="4368" extrusionOk="0">
                  <a:moveTo>
                    <a:pt x="65" y="1"/>
                  </a:moveTo>
                  <a:cubicBezTo>
                    <a:pt x="56" y="5"/>
                    <a:pt x="42" y="5"/>
                    <a:pt x="28" y="5"/>
                  </a:cubicBezTo>
                  <a:cubicBezTo>
                    <a:pt x="24" y="5"/>
                    <a:pt x="14" y="5"/>
                    <a:pt x="0" y="11"/>
                  </a:cubicBezTo>
                  <a:lnTo>
                    <a:pt x="0" y="4348"/>
                  </a:lnTo>
                  <a:cubicBezTo>
                    <a:pt x="24" y="4354"/>
                    <a:pt x="47" y="4358"/>
                    <a:pt x="65" y="4367"/>
                  </a:cubicBezTo>
                  <a:lnTo>
                    <a:pt x="65" y="1"/>
                  </a:lnTo>
                  <a:close/>
                </a:path>
              </a:pathLst>
            </a:custGeom>
            <a:solidFill>
              <a:srgbClr val="FF908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4" name="Google Shape;2954;p63"/>
            <p:cNvSpPr/>
            <p:nvPr/>
          </p:nvSpPr>
          <p:spPr>
            <a:xfrm>
              <a:off x="1854300" y="2867017"/>
              <a:ext cx="80" cy="327094"/>
            </a:xfrm>
            <a:custGeom>
              <a:avLst/>
              <a:gdLst/>
              <a:ahLst/>
              <a:cxnLst/>
              <a:rect l="l" t="t" r="r" b="b"/>
              <a:pathLst>
                <a:path w="1" h="4092" extrusionOk="0">
                  <a:moveTo>
                    <a:pt x="0" y="1"/>
                  </a:moveTo>
                  <a:lnTo>
                    <a:pt x="0" y="1"/>
                  </a:lnTo>
                  <a:lnTo>
                    <a:pt x="0" y="4091"/>
                  </a:lnTo>
                  <a:lnTo>
                    <a:pt x="0" y="4012"/>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5" name="Google Shape;2955;p63"/>
            <p:cNvSpPr/>
            <p:nvPr/>
          </p:nvSpPr>
          <p:spPr>
            <a:xfrm>
              <a:off x="868525" y="2867017"/>
              <a:ext cx="985839" cy="648433"/>
            </a:xfrm>
            <a:custGeom>
              <a:avLst/>
              <a:gdLst/>
              <a:ahLst/>
              <a:cxnLst/>
              <a:rect l="l" t="t" r="r" b="b"/>
              <a:pathLst>
                <a:path w="12333" h="8112" extrusionOk="0">
                  <a:moveTo>
                    <a:pt x="89" y="1074"/>
                  </a:moveTo>
                  <a:cubicBezTo>
                    <a:pt x="24" y="1803"/>
                    <a:pt x="0" y="2536"/>
                    <a:pt x="5" y="3270"/>
                  </a:cubicBezTo>
                  <a:cubicBezTo>
                    <a:pt x="15" y="2541"/>
                    <a:pt x="65" y="1813"/>
                    <a:pt x="155" y="1089"/>
                  </a:cubicBezTo>
                  <a:cubicBezTo>
                    <a:pt x="132" y="1084"/>
                    <a:pt x="108" y="1079"/>
                    <a:pt x="89" y="1074"/>
                  </a:cubicBezTo>
                  <a:close/>
                  <a:moveTo>
                    <a:pt x="12332" y="1"/>
                  </a:moveTo>
                  <a:cubicBezTo>
                    <a:pt x="12314" y="14"/>
                    <a:pt x="12295" y="29"/>
                    <a:pt x="12267" y="48"/>
                  </a:cubicBezTo>
                  <a:lnTo>
                    <a:pt x="12267" y="4380"/>
                  </a:lnTo>
                  <a:cubicBezTo>
                    <a:pt x="12272" y="4576"/>
                    <a:pt x="12253" y="4773"/>
                    <a:pt x="12220" y="4960"/>
                  </a:cubicBezTo>
                  <a:cubicBezTo>
                    <a:pt x="12291" y="4684"/>
                    <a:pt x="12328" y="4390"/>
                    <a:pt x="12332" y="4091"/>
                  </a:cubicBezTo>
                  <a:lnTo>
                    <a:pt x="12332" y="1"/>
                  </a:lnTo>
                  <a:close/>
                  <a:moveTo>
                    <a:pt x="3946" y="8098"/>
                  </a:moveTo>
                  <a:lnTo>
                    <a:pt x="3834" y="8102"/>
                  </a:lnTo>
                  <a:cubicBezTo>
                    <a:pt x="3759" y="8107"/>
                    <a:pt x="3690" y="8111"/>
                    <a:pt x="3615" y="8111"/>
                  </a:cubicBezTo>
                  <a:lnTo>
                    <a:pt x="3619" y="8111"/>
                  </a:lnTo>
                  <a:cubicBezTo>
                    <a:pt x="3699" y="8111"/>
                    <a:pt x="3778" y="8107"/>
                    <a:pt x="3858" y="8102"/>
                  </a:cubicBezTo>
                  <a:lnTo>
                    <a:pt x="3946" y="8098"/>
                  </a:lnTo>
                  <a:close/>
                </a:path>
              </a:pathLst>
            </a:custGeom>
            <a:solidFill>
              <a:srgbClr val="FF908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6" name="Google Shape;2956;p63"/>
            <p:cNvSpPr/>
            <p:nvPr/>
          </p:nvSpPr>
          <p:spPr>
            <a:xfrm>
              <a:off x="1029756" y="2239999"/>
              <a:ext cx="28457" cy="34692"/>
            </a:xfrm>
            <a:custGeom>
              <a:avLst/>
              <a:gdLst/>
              <a:ahLst/>
              <a:cxnLst/>
              <a:rect l="l" t="t" r="r" b="b"/>
              <a:pathLst>
                <a:path w="356" h="434" extrusionOk="0">
                  <a:moveTo>
                    <a:pt x="239" y="0"/>
                  </a:moveTo>
                  <a:cubicBezTo>
                    <a:pt x="173" y="0"/>
                    <a:pt x="113" y="28"/>
                    <a:pt x="71" y="84"/>
                  </a:cubicBezTo>
                  <a:cubicBezTo>
                    <a:pt x="1" y="173"/>
                    <a:pt x="20" y="308"/>
                    <a:pt x="108" y="378"/>
                  </a:cubicBezTo>
                  <a:cubicBezTo>
                    <a:pt x="136" y="397"/>
                    <a:pt x="160" y="416"/>
                    <a:pt x="183" y="434"/>
                  </a:cubicBezTo>
                  <a:cubicBezTo>
                    <a:pt x="239" y="299"/>
                    <a:pt x="295" y="168"/>
                    <a:pt x="356" y="37"/>
                  </a:cubicBezTo>
                  <a:cubicBezTo>
                    <a:pt x="318" y="14"/>
                    <a:pt x="276" y="0"/>
                    <a:pt x="239" y="0"/>
                  </a:cubicBezTo>
                  <a:close/>
                </a:path>
              </a:pathLst>
            </a:custGeom>
            <a:solidFill>
              <a:srgbClr val="FF787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7" name="Google Shape;2957;p63"/>
            <p:cNvSpPr/>
            <p:nvPr/>
          </p:nvSpPr>
          <p:spPr>
            <a:xfrm>
              <a:off x="1854300" y="2454627"/>
              <a:ext cx="13509" cy="32454"/>
            </a:xfrm>
            <a:custGeom>
              <a:avLst/>
              <a:gdLst/>
              <a:ahLst/>
              <a:cxnLst/>
              <a:rect l="l" t="t" r="r" b="b"/>
              <a:pathLst>
                <a:path w="169" h="406" extrusionOk="0">
                  <a:moveTo>
                    <a:pt x="0" y="0"/>
                  </a:moveTo>
                  <a:lnTo>
                    <a:pt x="0" y="406"/>
                  </a:lnTo>
                  <a:cubicBezTo>
                    <a:pt x="99" y="388"/>
                    <a:pt x="168" y="298"/>
                    <a:pt x="164" y="192"/>
                  </a:cubicBezTo>
                  <a:cubicBezTo>
                    <a:pt x="159" y="98"/>
                    <a:pt x="89" y="18"/>
                    <a:pt x="0"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8" name="Google Shape;2958;p63"/>
            <p:cNvSpPr/>
            <p:nvPr/>
          </p:nvSpPr>
          <p:spPr>
            <a:xfrm>
              <a:off x="1854300" y="2454627"/>
              <a:ext cx="80" cy="32454"/>
            </a:xfrm>
            <a:custGeom>
              <a:avLst/>
              <a:gdLst/>
              <a:ahLst/>
              <a:cxnLst/>
              <a:rect l="l" t="t" r="r" b="b"/>
              <a:pathLst>
                <a:path w="1" h="406" extrusionOk="0">
                  <a:moveTo>
                    <a:pt x="0" y="0"/>
                  </a:moveTo>
                  <a:lnTo>
                    <a:pt x="0" y="406"/>
                  </a:lnTo>
                  <a:lnTo>
                    <a:pt x="0" y="406"/>
                  </a:lnTo>
                  <a:lnTo>
                    <a:pt x="0" y="0"/>
                  </a:lnTo>
                  <a:close/>
                </a:path>
              </a:pathLst>
            </a:custGeom>
            <a:solidFill>
              <a:srgbClr val="FFA49B"/>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9" name="Google Shape;2959;p63"/>
            <p:cNvSpPr/>
            <p:nvPr/>
          </p:nvSpPr>
          <p:spPr>
            <a:xfrm>
              <a:off x="1849104" y="2453828"/>
              <a:ext cx="5276" cy="34132"/>
            </a:xfrm>
            <a:custGeom>
              <a:avLst/>
              <a:gdLst/>
              <a:ahLst/>
              <a:cxnLst/>
              <a:rect l="l" t="t" r="r" b="b"/>
              <a:pathLst>
                <a:path w="66" h="427" extrusionOk="0">
                  <a:moveTo>
                    <a:pt x="0" y="0"/>
                  </a:moveTo>
                  <a:lnTo>
                    <a:pt x="0" y="426"/>
                  </a:lnTo>
                  <a:cubicBezTo>
                    <a:pt x="14" y="420"/>
                    <a:pt x="24" y="420"/>
                    <a:pt x="28" y="420"/>
                  </a:cubicBezTo>
                  <a:cubicBezTo>
                    <a:pt x="42" y="420"/>
                    <a:pt x="56" y="420"/>
                    <a:pt x="65" y="416"/>
                  </a:cubicBezTo>
                  <a:lnTo>
                    <a:pt x="65" y="10"/>
                  </a:lnTo>
                  <a:cubicBezTo>
                    <a:pt x="52" y="6"/>
                    <a:pt x="37" y="0"/>
                    <a:pt x="19"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0" name="Google Shape;2960;p63"/>
            <p:cNvSpPr/>
            <p:nvPr/>
          </p:nvSpPr>
          <p:spPr>
            <a:xfrm>
              <a:off x="1854300" y="2836082"/>
              <a:ext cx="11591" cy="31015"/>
            </a:xfrm>
            <a:custGeom>
              <a:avLst/>
              <a:gdLst/>
              <a:ahLst/>
              <a:cxnLst/>
              <a:rect l="l" t="t" r="r" b="b"/>
              <a:pathLst>
                <a:path w="145" h="388" extrusionOk="0">
                  <a:moveTo>
                    <a:pt x="0" y="0"/>
                  </a:moveTo>
                  <a:lnTo>
                    <a:pt x="0" y="388"/>
                  </a:lnTo>
                  <a:cubicBezTo>
                    <a:pt x="24" y="369"/>
                    <a:pt x="38" y="355"/>
                    <a:pt x="47" y="351"/>
                  </a:cubicBezTo>
                  <a:cubicBezTo>
                    <a:pt x="136" y="276"/>
                    <a:pt x="145" y="145"/>
                    <a:pt x="71" y="56"/>
                  </a:cubicBezTo>
                  <a:cubicBezTo>
                    <a:pt x="52" y="33"/>
                    <a:pt x="28" y="15"/>
                    <a:pt x="0"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1" name="Google Shape;2961;p63"/>
            <p:cNvSpPr/>
            <p:nvPr/>
          </p:nvSpPr>
          <p:spPr>
            <a:xfrm>
              <a:off x="1854300" y="2836082"/>
              <a:ext cx="80" cy="31015"/>
            </a:xfrm>
            <a:custGeom>
              <a:avLst/>
              <a:gdLst/>
              <a:ahLst/>
              <a:cxnLst/>
              <a:rect l="l" t="t" r="r" b="b"/>
              <a:pathLst>
                <a:path w="1" h="388" extrusionOk="0">
                  <a:moveTo>
                    <a:pt x="0" y="0"/>
                  </a:moveTo>
                  <a:lnTo>
                    <a:pt x="0" y="388"/>
                  </a:lnTo>
                  <a:lnTo>
                    <a:pt x="0" y="388"/>
                  </a:lnTo>
                  <a:lnTo>
                    <a:pt x="0" y="0"/>
                  </a:lnTo>
                  <a:close/>
                </a:path>
              </a:pathLst>
            </a:custGeom>
            <a:solidFill>
              <a:srgbClr val="FFA49B"/>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2" name="Google Shape;2962;p63"/>
            <p:cNvSpPr/>
            <p:nvPr/>
          </p:nvSpPr>
          <p:spPr>
            <a:xfrm>
              <a:off x="875559" y="2834563"/>
              <a:ext cx="978804" cy="119503"/>
            </a:xfrm>
            <a:custGeom>
              <a:avLst/>
              <a:gdLst/>
              <a:ahLst/>
              <a:cxnLst/>
              <a:rect l="l" t="t" r="r" b="b"/>
              <a:pathLst>
                <a:path w="12245" h="1495" extrusionOk="0">
                  <a:moveTo>
                    <a:pt x="12179" y="0"/>
                  </a:moveTo>
                  <a:lnTo>
                    <a:pt x="12179" y="454"/>
                  </a:lnTo>
                  <a:cubicBezTo>
                    <a:pt x="12207" y="435"/>
                    <a:pt x="12226" y="420"/>
                    <a:pt x="12244" y="407"/>
                  </a:cubicBezTo>
                  <a:lnTo>
                    <a:pt x="12244" y="19"/>
                  </a:lnTo>
                  <a:cubicBezTo>
                    <a:pt x="12226" y="10"/>
                    <a:pt x="12203" y="6"/>
                    <a:pt x="12179" y="0"/>
                  </a:cubicBezTo>
                  <a:close/>
                  <a:moveTo>
                    <a:pt x="39" y="1065"/>
                  </a:moveTo>
                  <a:cubicBezTo>
                    <a:pt x="24" y="1200"/>
                    <a:pt x="11" y="1340"/>
                    <a:pt x="1" y="1480"/>
                  </a:cubicBezTo>
                  <a:cubicBezTo>
                    <a:pt x="20" y="1485"/>
                    <a:pt x="44" y="1490"/>
                    <a:pt x="67" y="1495"/>
                  </a:cubicBezTo>
                  <a:cubicBezTo>
                    <a:pt x="81" y="1355"/>
                    <a:pt x="100" y="1215"/>
                    <a:pt x="123" y="1079"/>
                  </a:cubicBezTo>
                  <a:cubicBezTo>
                    <a:pt x="100" y="1075"/>
                    <a:pt x="76" y="1070"/>
                    <a:pt x="52" y="1065"/>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3" name="Google Shape;2963;p63"/>
            <p:cNvSpPr/>
            <p:nvPr/>
          </p:nvSpPr>
          <p:spPr>
            <a:xfrm>
              <a:off x="2548148" y="3735282"/>
              <a:ext cx="480" cy="400"/>
            </a:xfrm>
            <a:custGeom>
              <a:avLst/>
              <a:gdLst/>
              <a:ahLst/>
              <a:cxnLst/>
              <a:rect l="l" t="t" r="r" b="b"/>
              <a:pathLst>
                <a:path w="6" h="5" extrusionOk="0">
                  <a:moveTo>
                    <a:pt x="1" y="0"/>
                  </a:moveTo>
                  <a:cubicBezTo>
                    <a:pt x="1" y="5"/>
                    <a:pt x="1" y="5"/>
                    <a:pt x="5" y="5"/>
                  </a:cubicBezTo>
                  <a:cubicBezTo>
                    <a:pt x="5" y="5"/>
                    <a:pt x="1" y="5"/>
                    <a:pt x="1" y="0"/>
                  </a:cubicBezTo>
                  <a:close/>
                </a:path>
              </a:pathLst>
            </a:custGeom>
            <a:solidFill>
              <a:srgbClr val="F8706A"/>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4" name="Google Shape;2964;p63"/>
            <p:cNvSpPr/>
            <p:nvPr/>
          </p:nvSpPr>
          <p:spPr>
            <a:xfrm>
              <a:off x="2211536" y="2454627"/>
              <a:ext cx="13509" cy="32454"/>
            </a:xfrm>
            <a:custGeom>
              <a:avLst/>
              <a:gdLst/>
              <a:ahLst/>
              <a:cxnLst/>
              <a:rect l="l" t="t" r="r" b="b"/>
              <a:pathLst>
                <a:path w="169" h="406" extrusionOk="0">
                  <a:moveTo>
                    <a:pt x="169" y="0"/>
                  </a:moveTo>
                  <a:cubicBezTo>
                    <a:pt x="74" y="18"/>
                    <a:pt x="9" y="98"/>
                    <a:pt x="5" y="192"/>
                  </a:cubicBezTo>
                  <a:cubicBezTo>
                    <a:pt x="0" y="298"/>
                    <a:pt x="70" y="388"/>
                    <a:pt x="169" y="406"/>
                  </a:cubicBezTo>
                  <a:lnTo>
                    <a:pt x="169"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5" name="Google Shape;2965;p63"/>
            <p:cNvSpPr/>
            <p:nvPr/>
          </p:nvSpPr>
          <p:spPr>
            <a:xfrm>
              <a:off x="3021051" y="2239999"/>
              <a:ext cx="28537" cy="34692"/>
            </a:xfrm>
            <a:custGeom>
              <a:avLst/>
              <a:gdLst/>
              <a:ahLst/>
              <a:cxnLst/>
              <a:rect l="l" t="t" r="r" b="b"/>
              <a:pathLst>
                <a:path w="357" h="434" extrusionOk="0">
                  <a:moveTo>
                    <a:pt x="117" y="0"/>
                  </a:moveTo>
                  <a:cubicBezTo>
                    <a:pt x="76" y="0"/>
                    <a:pt x="39" y="14"/>
                    <a:pt x="1" y="37"/>
                  </a:cubicBezTo>
                  <a:cubicBezTo>
                    <a:pt x="61" y="168"/>
                    <a:pt x="117" y="299"/>
                    <a:pt x="174" y="434"/>
                  </a:cubicBezTo>
                  <a:cubicBezTo>
                    <a:pt x="197" y="416"/>
                    <a:pt x="221" y="397"/>
                    <a:pt x="244" y="378"/>
                  </a:cubicBezTo>
                  <a:cubicBezTo>
                    <a:pt x="337" y="308"/>
                    <a:pt x="356" y="173"/>
                    <a:pt x="286" y="84"/>
                  </a:cubicBezTo>
                  <a:cubicBezTo>
                    <a:pt x="244" y="28"/>
                    <a:pt x="179" y="0"/>
                    <a:pt x="117" y="0"/>
                  </a:cubicBezTo>
                  <a:close/>
                </a:path>
              </a:pathLst>
            </a:custGeom>
            <a:solidFill>
              <a:srgbClr val="FF787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6" name="Google Shape;2966;p63"/>
            <p:cNvSpPr/>
            <p:nvPr/>
          </p:nvSpPr>
          <p:spPr>
            <a:xfrm>
              <a:off x="2224965" y="2454627"/>
              <a:ext cx="80" cy="32454"/>
            </a:xfrm>
            <a:custGeom>
              <a:avLst/>
              <a:gdLst/>
              <a:ahLst/>
              <a:cxnLst/>
              <a:rect l="l" t="t" r="r" b="b"/>
              <a:pathLst>
                <a:path w="1" h="406" extrusionOk="0">
                  <a:moveTo>
                    <a:pt x="1" y="0"/>
                  </a:moveTo>
                  <a:lnTo>
                    <a:pt x="1" y="0"/>
                  </a:lnTo>
                  <a:lnTo>
                    <a:pt x="1" y="406"/>
                  </a:lnTo>
                  <a:lnTo>
                    <a:pt x="1" y="406"/>
                  </a:lnTo>
                  <a:close/>
                </a:path>
              </a:pathLst>
            </a:custGeom>
            <a:solidFill>
              <a:srgbClr val="FFA49B"/>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7" name="Google Shape;2967;p63"/>
            <p:cNvSpPr/>
            <p:nvPr/>
          </p:nvSpPr>
          <p:spPr>
            <a:xfrm>
              <a:off x="2212974" y="2836082"/>
              <a:ext cx="12070" cy="31015"/>
            </a:xfrm>
            <a:custGeom>
              <a:avLst/>
              <a:gdLst/>
              <a:ahLst/>
              <a:cxnLst/>
              <a:rect l="l" t="t" r="r" b="b"/>
              <a:pathLst>
                <a:path w="151" h="388" extrusionOk="0">
                  <a:moveTo>
                    <a:pt x="151" y="0"/>
                  </a:moveTo>
                  <a:cubicBezTo>
                    <a:pt x="123" y="15"/>
                    <a:pt x="99" y="33"/>
                    <a:pt x="75" y="56"/>
                  </a:cubicBezTo>
                  <a:cubicBezTo>
                    <a:pt x="0" y="145"/>
                    <a:pt x="15" y="276"/>
                    <a:pt x="103" y="351"/>
                  </a:cubicBezTo>
                  <a:cubicBezTo>
                    <a:pt x="108" y="355"/>
                    <a:pt x="127" y="369"/>
                    <a:pt x="151" y="388"/>
                  </a:cubicBezTo>
                  <a:lnTo>
                    <a:pt x="151"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8" name="Google Shape;2968;p63"/>
            <p:cNvSpPr/>
            <p:nvPr/>
          </p:nvSpPr>
          <p:spPr>
            <a:xfrm>
              <a:off x="3200588" y="2919295"/>
              <a:ext cx="19904" cy="33653"/>
            </a:xfrm>
            <a:custGeom>
              <a:avLst/>
              <a:gdLst/>
              <a:ahLst/>
              <a:cxnLst/>
              <a:rect l="l" t="t" r="r" b="b"/>
              <a:pathLst>
                <a:path w="249" h="421" extrusionOk="0">
                  <a:moveTo>
                    <a:pt x="24" y="0"/>
                  </a:moveTo>
                  <a:cubicBezTo>
                    <a:pt x="15" y="0"/>
                    <a:pt x="11" y="0"/>
                    <a:pt x="1" y="5"/>
                  </a:cubicBezTo>
                  <a:cubicBezTo>
                    <a:pt x="15" y="140"/>
                    <a:pt x="29" y="280"/>
                    <a:pt x="39" y="420"/>
                  </a:cubicBezTo>
                  <a:lnTo>
                    <a:pt x="57" y="420"/>
                  </a:lnTo>
                  <a:cubicBezTo>
                    <a:pt x="174" y="397"/>
                    <a:pt x="248" y="290"/>
                    <a:pt x="230" y="178"/>
                  </a:cubicBezTo>
                  <a:cubicBezTo>
                    <a:pt x="211" y="75"/>
                    <a:pt x="123" y="0"/>
                    <a:pt x="24" y="0"/>
                  </a:cubicBezTo>
                  <a:close/>
                </a:path>
              </a:pathLst>
            </a:custGeom>
            <a:solidFill>
              <a:srgbClr val="FF787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9" name="Google Shape;2969;p63"/>
            <p:cNvSpPr/>
            <p:nvPr/>
          </p:nvSpPr>
          <p:spPr>
            <a:xfrm>
              <a:off x="2224965" y="2836082"/>
              <a:ext cx="80" cy="31015"/>
            </a:xfrm>
            <a:custGeom>
              <a:avLst/>
              <a:gdLst/>
              <a:ahLst/>
              <a:cxnLst/>
              <a:rect l="l" t="t" r="r" b="b"/>
              <a:pathLst>
                <a:path w="1" h="388" extrusionOk="0">
                  <a:moveTo>
                    <a:pt x="1" y="0"/>
                  </a:moveTo>
                  <a:lnTo>
                    <a:pt x="1" y="0"/>
                  </a:lnTo>
                  <a:lnTo>
                    <a:pt x="1" y="388"/>
                  </a:lnTo>
                  <a:lnTo>
                    <a:pt x="1" y="388"/>
                  </a:lnTo>
                  <a:close/>
                </a:path>
              </a:pathLst>
            </a:custGeom>
            <a:solidFill>
              <a:srgbClr val="FFA49B"/>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0" name="Google Shape;2970;p63"/>
            <p:cNvSpPr/>
            <p:nvPr/>
          </p:nvSpPr>
          <p:spPr>
            <a:xfrm>
              <a:off x="2224965" y="2834563"/>
              <a:ext cx="978724" cy="119503"/>
            </a:xfrm>
            <a:custGeom>
              <a:avLst/>
              <a:gdLst/>
              <a:ahLst/>
              <a:cxnLst/>
              <a:rect l="l" t="t" r="r" b="b"/>
              <a:pathLst>
                <a:path w="12244" h="1495" extrusionOk="0">
                  <a:moveTo>
                    <a:pt x="66" y="0"/>
                  </a:moveTo>
                  <a:cubicBezTo>
                    <a:pt x="42" y="0"/>
                    <a:pt x="18" y="10"/>
                    <a:pt x="1" y="19"/>
                  </a:cubicBezTo>
                  <a:lnTo>
                    <a:pt x="1" y="407"/>
                  </a:lnTo>
                  <a:cubicBezTo>
                    <a:pt x="14" y="420"/>
                    <a:pt x="38" y="435"/>
                    <a:pt x="66" y="454"/>
                  </a:cubicBezTo>
                  <a:lnTo>
                    <a:pt x="66" y="0"/>
                  </a:lnTo>
                  <a:close/>
                  <a:moveTo>
                    <a:pt x="12192" y="1065"/>
                  </a:moveTo>
                  <a:cubicBezTo>
                    <a:pt x="12169" y="1070"/>
                    <a:pt x="12145" y="1075"/>
                    <a:pt x="12122" y="1079"/>
                  </a:cubicBezTo>
                  <a:cubicBezTo>
                    <a:pt x="12141" y="1215"/>
                    <a:pt x="12160" y="1355"/>
                    <a:pt x="12178" y="1495"/>
                  </a:cubicBezTo>
                  <a:cubicBezTo>
                    <a:pt x="12201" y="1490"/>
                    <a:pt x="12225" y="1485"/>
                    <a:pt x="12244" y="1480"/>
                  </a:cubicBezTo>
                  <a:cubicBezTo>
                    <a:pt x="12234" y="1340"/>
                    <a:pt x="12220" y="1200"/>
                    <a:pt x="12206" y="1065"/>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2971" name="Google Shape;2971;p63"/>
            <p:cNvGrpSpPr/>
            <p:nvPr/>
          </p:nvGrpSpPr>
          <p:grpSpPr>
            <a:xfrm>
              <a:off x="720003" y="1690759"/>
              <a:ext cx="2639320" cy="2074418"/>
              <a:chOff x="720003" y="1690759"/>
              <a:chExt cx="2639320" cy="2074418"/>
            </a:xfrm>
          </p:grpSpPr>
          <p:sp>
            <p:nvSpPr>
              <p:cNvPr id="2972" name="Google Shape;2972;p63"/>
              <p:cNvSpPr/>
              <p:nvPr/>
            </p:nvSpPr>
            <p:spPr>
              <a:xfrm>
                <a:off x="720003" y="1690759"/>
                <a:ext cx="1136196" cy="2074394"/>
              </a:xfrm>
              <a:custGeom>
                <a:avLst/>
                <a:gdLst/>
                <a:ahLst/>
                <a:cxnLst/>
                <a:rect l="l" t="t" r="r" b="b"/>
                <a:pathLst>
                  <a:path w="14214" h="25951" extrusionOk="0">
                    <a:moveTo>
                      <a:pt x="11109" y="0"/>
                    </a:moveTo>
                    <a:cubicBezTo>
                      <a:pt x="10753" y="0"/>
                      <a:pt x="10387" y="62"/>
                      <a:pt x="10026" y="194"/>
                    </a:cubicBezTo>
                    <a:cubicBezTo>
                      <a:pt x="6238" y="2160"/>
                      <a:pt x="3399" y="5522"/>
                      <a:pt x="2139" y="9537"/>
                    </a:cubicBezTo>
                    <a:lnTo>
                      <a:pt x="1285" y="12246"/>
                    </a:lnTo>
                    <a:cubicBezTo>
                      <a:pt x="411" y="15028"/>
                      <a:pt x="0" y="17933"/>
                      <a:pt x="74" y="20847"/>
                    </a:cubicBezTo>
                    <a:lnTo>
                      <a:pt x="102" y="22019"/>
                    </a:lnTo>
                    <a:cubicBezTo>
                      <a:pt x="162" y="24217"/>
                      <a:pt x="1995" y="25950"/>
                      <a:pt x="4207" y="25950"/>
                    </a:cubicBezTo>
                    <a:cubicBezTo>
                      <a:pt x="4297" y="25950"/>
                      <a:pt x="4387" y="25947"/>
                      <a:pt x="4479" y="25941"/>
                    </a:cubicBezTo>
                    <a:lnTo>
                      <a:pt x="10132" y="25582"/>
                    </a:lnTo>
                    <a:cubicBezTo>
                      <a:pt x="12435" y="25432"/>
                      <a:pt x="14214" y="23550"/>
                      <a:pt x="14190" y="21291"/>
                    </a:cubicBezTo>
                    <a:lnTo>
                      <a:pt x="14190" y="3033"/>
                    </a:lnTo>
                    <a:cubicBezTo>
                      <a:pt x="14190" y="1296"/>
                      <a:pt x="12743" y="0"/>
                      <a:pt x="11109"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3" name="Google Shape;2973;p63"/>
              <p:cNvSpPr/>
              <p:nvPr/>
            </p:nvSpPr>
            <p:spPr>
              <a:xfrm>
                <a:off x="927918" y="3613540"/>
                <a:ext cx="779446" cy="151637"/>
              </a:xfrm>
              <a:custGeom>
                <a:avLst/>
                <a:gdLst/>
                <a:ahLst/>
                <a:cxnLst/>
                <a:rect l="l" t="t" r="r" b="b"/>
                <a:pathLst>
                  <a:path w="9751" h="1897" extrusionOk="0">
                    <a:moveTo>
                      <a:pt x="5725" y="0"/>
                    </a:moveTo>
                    <a:cubicBezTo>
                      <a:pt x="4179" y="0"/>
                      <a:pt x="2376" y="327"/>
                      <a:pt x="453" y="1313"/>
                    </a:cubicBezTo>
                    <a:lnTo>
                      <a:pt x="0" y="1574"/>
                    </a:lnTo>
                    <a:cubicBezTo>
                      <a:pt x="495" y="1780"/>
                      <a:pt x="1037" y="1896"/>
                      <a:pt x="1606" y="1896"/>
                    </a:cubicBezTo>
                    <a:cubicBezTo>
                      <a:pt x="1695" y="1896"/>
                      <a:pt x="1788" y="1892"/>
                      <a:pt x="1878" y="1887"/>
                    </a:cubicBezTo>
                    <a:lnTo>
                      <a:pt x="7531" y="1528"/>
                    </a:lnTo>
                    <a:lnTo>
                      <a:pt x="7541" y="1528"/>
                    </a:lnTo>
                    <a:lnTo>
                      <a:pt x="7546" y="1523"/>
                    </a:lnTo>
                    <a:lnTo>
                      <a:pt x="7574" y="1523"/>
                    </a:lnTo>
                    <a:cubicBezTo>
                      <a:pt x="8382" y="1467"/>
                      <a:pt x="9124" y="1192"/>
                      <a:pt x="9750" y="757"/>
                    </a:cubicBezTo>
                    <a:cubicBezTo>
                      <a:pt x="8872" y="416"/>
                      <a:pt x="7462" y="0"/>
                      <a:pt x="5725"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4" name="Google Shape;2974;p63"/>
              <p:cNvSpPr/>
              <p:nvPr/>
            </p:nvSpPr>
            <p:spPr>
              <a:xfrm>
                <a:off x="878677" y="1691318"/>
                <a:ext cx="975687" cy="1229560"/>
              </a:xfrm>
              <a:custGeom>
                <a:avLst/>
                <a:gdLst/>
                <a:ahLst/>
                <a:cxnLst/>
                <a:rect l="l" t="t" r="r" b="b"/>
                <a:pathLst>
                  <a:path w="12206" h="15382" extrusionOk="0">
                    <a:moveTo>
                      <a:pt x="9324" y="0"/>
                    </a:moveTo>
                    <a:cubicBezTo>
                      <a:pt x="9077" y="19"/>
                      <a:pt x="8820" y="70"/>
                      <a:pt x="8568" y="164"/>
                    </a:cubicBezTo>
                    <a:cubicBezTo>
                      <a:pt x="5738" y="1649"/>
                      <a:pt x="3516" y="4026"/>
                      <a:pt x="2246" y="6901"/>
                    </a:cubicBezTo>
                    <a:lnTo>
                      <a:pt x="2255" y="6911"/>
                    </a:lnTo>
                    <a:cubicBezTo>
                      <a:pt x="2432" y="7041"/>
                      <a:pt x="2615" y="7172"/>
                      <a:pt x="2796" y="7293"/>
                    </a:cubicBezTo>
                    <a:cubicBezTo>
                      <a:pt x="4108" y="5146"/>
                      <a:pt x="6089" y="3371"/>
                      <a:pt x="8522" y="2205"/>
                    </a:cubicBezTo>
                    <a:cubicBezTo>
                      <a:pt x="8839" y="2101"/>
                      <a:pt x="9156" y="2050"/>
                      <a:pt x="9464" y="2050"/>
                    </a:cubicBezTo>
                    <a:cubicBezTo>
                      <a:pt x="10884" y="2050"/>
                      <a:pt x="12140" y="3086"/>
                      <a:pt x="12140" y="4474"/>
                    </a:cubicBezTo>
                    <a:lnTo>
                      <a:pt x="12140" y="9539"/>
                    </a:lnTo>
                    <a:lnTo>
                      <a:pt x="12159" y="9539"/>
                    </a:lnTo>
                    <a:cubicBezTo>
                      <a:pt x="12177" y="9539"/>
                      <a:pt x="12192" y="9545"/>
                      <a:pt x="12205" y="9549"/>
                    </a:cubicBezTo>
                    <a:lnTo>
                      <a:pt x="12205" y="3026"/>
                    </a:lnTo>
                    <a:cubicBezTo>
                      <a:pt x="12205" y="1364"/>
                      <a:pt x="10875" y="103"/>
                      <a:pt x="9324" y="0"/>
                    </a:cubicBezTo>
                    <a:close/>
                    <a:moveTo>
                      <a:pt x="2073" y="7298"/>
                    </a:moveTo>
                    <a:cubicBezTo>
                      <a:pt x="1933" y="7653"/>
                      <a:pt x="1802" y="8013"/>
                      <a:pt x="1686" y="8382"/>
                    </a:cubicBezTo>
                    <a:lnTo>
                      <a:pt x="943" y="10763"/>
                    </a:lnTo>
                    <a:cubicBezTo>
                      <a:pt x="471" y="12267"/>
                      <a:pt x="158" y="13808"/>
                      <a:pt x="0" y="15367"/>
                    </a:cubicBezTo>
                    <a:lnTo>
                      <a:pt x="13" y="15367"/>
                    </a:lnTo>
                    <a:cubicBezTo>
                      <a:pt x="37" y="15372"/>
                      <a:pt x="61" y="15377"/>
                      <a:pt x="84" y="15381"/>
                    </a:cubicBezTo>
                    <a:cubicBezTo>
                      <a:pt x="257" y="14185"/>
                      <a:pt x="541" y="13004"/>
                      <a:pt x="938" y="11851"/>
                    </a:cubicBezTo>
                    <a:lnTo>
                      <a:pt x="1675" y="9679"/>
                    </a:lnTo>
                    <a:cubicBezTo>
                      <a:pt x="1914" y="8979"/>
                      <a:pt x="2222" y="8302"/>
                      <a:pt x="2587" y="7658"/>
                    </a:cubicBezTo>
                    <a:cubicBezTo>
                      <a:pt x="2409" y="7541"/>
                      <a:pt x="2241" y="7425"/>
                      <a:pt x="2073" y="7298"/>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5" name="Google Shape;2975;p63"/>
              <p:cNvSpPr/>
              <p:nvPr/>
            </p:nvSpPr>
            <p:spPr>
              <a:xfrm>
                <a:off x="864368" y="1855187"/>
                <a:ext cx="986638" cy="1660091"/>
              </a:xfrm>
              <a:custGeom>
                <a:avLst/>
                <a:gdLst/>
                <a:ahLst/>
                <a:cxnLst/>
                <a:rect l="l" t="t" r="r" b="b"/>
                <a:pathLst>
                  <a:path w="12343" h="20768" extrusionOk="0">
                    <a:moveTo>
                      <a:pt x="9641" y="0"/>
                    </a:moveTo>
                    <a:cubicBezTo>
                      <a:pt x="9332" y="0"/>
                      <a:pt x="9014" y="49"/>
                      <a:pt x="8701" y="155"/>
                    </a:cubicBezTo>
                    <a:cubicBezTo>
                      <a:pt x="5413" y="1728"/>
                      <a:pt x="2953" y="4417"/>
                      <a:pt x="1854" y="7629"/>
                    </a:cubicBezTo>
                    <a:lnTo>
                      <a:pt x="1117" y="9801"/>
                    </a:lnTo>
                    <a:cubicBezTo>
                      <a:pt x="356" y="12028"/>
                      <a:pt x="1" y="14353"/>
                      <a:pt x="67" y="16684"/>
                    </a:cubicBezTo>
                    <a:lnTo>
                      <a:pt x="89" y="17622"/>
                    </a:lnTo>
                    <a:cubicBezTo>
                      <a:pt x="139" y="19380"/>
                      <a:pt x="1731" y="20767"/>
                      <a:pt x="3647" y="20767"/>
                    </a:cubicBezTo>
                    <a:cubicBezTo>
                      <a:pt x="3726" y="20767"/>
                      <a:pt x="3806" y="20765"/>
                      <a:pt x="3886" y="20760"/>
                    </a:cubicBezTo>
                    <a:lnTo>
                      <a:pt x="8798" y="20471"/>
                    </a:lnTo>
                    <a:cubicBezTo>
                      <a:pt x="10792" y="20354"/>
                      <a:pt x="12343" y="18846"/>
                      <a:pt x="12319" y="17038"/>
                    </a:cubicBezTo>
                    <a:lnTo>
                      <a:pt x="12319" y="2424"/>
                    </a:lnTo>
                    <a:cubicBezTo>
                      <a:pt x="12319" y="1035"/>
                      <a:pt x="11063" y="0"/>
                      <a:pt x="9641"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6" name="Google Shape;2976;p63"/>
              <p:cNvSpPr/>
              <p:nvPr/>
            </p:nvSpPr>
            <p:spPr>
              <a:xfrm>
                <a:off x="1044385" y="2242957"/>
                <a:ext cx="57873" cy="60511"/>
              </a:xfrm>
              <a:custGeom>
                <a:avLst/>
                <a:gdLst/>
                <a:ahLst/>
                <a:cxnLst/>
                <a:rect l="l" t="t" r="r" b="b"/>
                <a:pathLst>
                  <a:path w="724" h="757" extrusionOk="0">
                    <a:moveTo>
                      <a:pt x="173" y="0"/>
                    </a:moveTo>
                    <a:cubicBezTo>
                      <a:pt x="112" y="131"/>
                      <a:pt x="56" y="262"/>
                      <a:pt x="0" y="397"/>
                    </a:cubicBezTo>
                    <a:cubicBezTo>
                      <a:pt x="168" y="524"/>
                      <a:pt x="336" y="640"/>
                      <a:pt x="514" y="757"/>
                    </a:cubicBezTo>
                    <a:cubicBezTo>
                      <a:pt x="583" y="636"/>
                      <a:pt x="654" y="515"/>
                      <a:pt x="723" y="392"/>
                    </a:cubicBezTo>
                    <a:cubicBezTo>
                      <a:pt x="542" y="271"/>
                      <a:pt x="359" y="140"/>
                      <a:pt x="182" y="10"/>
                    </a:cubicBezTo>
                    <a:lnTo>
                      <a:pt x="173" y="0"/>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7" name="Google Shape;2977;p63"/>
              <p:cNvSpPr/>
              <p:nvPr/>
            </p:nvSpPr>
            <p:spPr>
              <a:xfrm>
                <a:off x="1085392" y="2274292"/>
                <a:ext cx="763779" cy="213986"/>
              </a:xfrm>
              <a:custGeom>
                <a:avLst/>
                <a:gdLst/>
                <a:ahLst/>
                <a:cxnLst/>
                <a:rect l="l" t="t" r="r" b="b"/>
                <a:pathLst>
                  <a:path w="9555" h="2677" extrusionOk="0">
                    <a:moveTo>
                      <a:pt x="210" y="0"/>
                    </a:moveTo>
                    <a:cubicBezTo>
                      <a:pt x="141" y="123"/>
                      <a:pt x="70" y="244"/>
                      <a:pt x="1" y="365"/>
                    </a:cubicBezTo>
                    <a:cubicBezTo>
                      <a:pt x="3242" y="2489"/>
                      <a:pt x="7645" y="2677"/>
                      <a:pt x="9101" y="2677"/>
                    </a:cubicBezTo>
                    <a:cubicBezTo>
                      <a:pt x="9330" y="2677"/>
                      <a:pt x="9489" y="2672"/>
                      <a:pt x="9554" y="2672"/>
                    </a:cubicBezTo>
                    <a:lnTo>
                      <a:pt x="9554" y="2246"/>
                    </a:lnTo>
                    <a:cubicBezTo>
                      <a:pt x="9522" y="2252"/>
                      <a:pt x="9395" y="2256"/>
                      <a:pt x="9194" y="2256"/>
                    </a:cubicBezTo>
                    <a:cubicBezTo>
                      <a:pt x="7887" y="2256"/>
                      <a:pt x="3400" y="2093"/>
                      <a:pt x="210"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8" name="Google Shape;2978;p63"/>
              <p:cNvSpPr/>
              <p:nvPr/>
            </p:nvSpPr>
            <p:spPr>
              <a:xfrm>
                <a:off x="858853" y="2919295"/>
                <a:ext cx="19904" cy="33653"/>
              </a:xfrm>
              <a:custGeom>
                <a:avLst/>
                <a:gdLst/>
                <a:ahLst/>
                <a:cxnLst/>
                <a:rect l="l" t="t" r="r" b="b"/>
                <a:pathLst>
                  <a:path w="249" h="421" extrusionOk="0">
                    <a:moveTo>
                      <a:pt x="225" y="0"/>
                    </a:moveTo>
                    <a:cubicBezTo>
                      <a:pt x="121" y="0"/>
                      <a:pt x="37" y="75"/>
                      <a:pt x="18" y="178"/>
                    </a:cubicBezTo>
                    <a:cubicBezTo>
                      <a:pt x="0" y="290"/>
                      <a:pt x="74" y="397"/>
                      <a:pt x="192" y="420"/>
                    </a:cubicBezTo>
                    <a:lnTo>
                      <a:pt x="210" y="420"/>
                    </a:lnTo>
                    <a:cubicBezTo>
                      <a:pt x="220" y="280"/>
                      <a:pt x="233" y="140"/>
                      <a:pt x="248" y="5"/>
                    </a:cubicBezTo>
                    <a:cubicBezTo>
                      <a:pt x="238" y="0"/>
                      <a:pt x="229" y="0"/>
                      <a:pt x="225" y="0"/>
                    </a:cubicBezTo>
                    <a:close/>
                  </a:path>
                </a:pathLst>
              </a:custGeom>
              <a:solidFill>
                <a:srgbClr val="FF787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9" name="Google Shape;2979;p63"/>
              <p:cNvSpPr/>
              <p:nvPr/>
            </p:nvSpPr>
            <p:spPr>
              <a:xfrm>
                <a:off x="880915" y="2834563"/>
                <a:ext cx="968253" cy="158351"/>
              </a:xfrm>
              <a:custGeom>
                <a:avLst/>
                <a:gdLst/>
                <a:ahLst/>
                <a:cxnLst/>
                <a:rect l="l" t="t" r="r" b="b"/>
                <a:pathLst>
                  <a:path w="12113" h="1981" extrusionOk="0">
                    <a:moveTo>
                      <a:pt x="12089" y="0"/>
                    </a:moveTo>
                    <a:cubicBezTo>
                      <a:pt x="12042" y="0"/>
                      <a:pt x="11991" y="15"/>
                      <a:pt x="11953" y="47"/>
                    </a:cubicBezTo>
                    <a:cubicBezTo>
                      <a:pt x="11930" y="66"/>
                      <a:pt x="10071" y="1551"/>
                      <a:pt x="5225" y="1551"/>
                    </a:cubicBezTo>
                    <a:cubicBezTo>
                      <a:pt x="3777" y="1551"/>
                      <a:pt x="2063" y="1420"/>
                      <a:pt x="56" y="1079"/>
                    </a:cubicBezTo>
                    <a:cubicBezTo>
                      <a:pt x="33" y="1215"/>
                      <a:pt x="14" y="1355"/>
                      <a:pt x="0" y="1495"/>
                    </a:cubicBezTo>
                    <a:cubicBezTo>
                      <a:pt x="2054" y="1845"/>
                      <a:pt x="3805" y="1980"/>
                      <a:pt x="5285" y="1980"/>
                    </a:cubicBezTo>
                    <a:cubicBezTo>
                      <a:pt x="9656" y="1980"/>
                      <a:pt x="11640" y="790"/>
                      <a:pt x="12112" y="454"/>
                    </a:cubicBezTo>
                    <a:lnTo>
                      <a:pt x="12112" y="0"/>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0" name="Google Shape;2980;p63"/>
              <p:cNvSpPr/>
              <p:nvPr/>
            </p:nvSpPr>
            <p:spPr>
              <a:xfrm>
                <a:off x="2223126" y="1690759"/>
                <a:ext cx="1136196" cy="2074394"/>
              </a:xfrm>
              <a:custGeom>
                <a:avLst/>
                <a:gdLst/>
                <a:ahLst/>
                <a:cxnLst/>
                <a:rect l="l" t="t" r="r" b="b"/>
                <a:pathLst>
                  <a:path w="14214" h="25951" extrusionOk="0">
                    <a:moveTo>
                      <a:pt x="3105" y="0"/>
                    </a:moveTo>
                    <a:cubicBezTo>
                      <a:pt x="1470" y="0"/>
                      <a:pt x="24" y="1296"/>
                      <a:pt x="24" y="3033"/>
                    </a:cubicBezTo>
                    <a:lnTo>
                      <a:pt x="24" y="21291"/>
                    </a:lnTo>
                    <a:cubicBezTo>
                      <a:pt x="0" y="23550"/>
                      <a:pt x="1779" y="25432"/>
                      <a:pt x="4081" y="25582"/>
                    </a:cubicBezTo>
                    <a:lnTo>
                      <a:pt x="9735" y="25941"/>
                    </a:lnTo>
                    <a:cubicBezTo>
                      <a:pt x="9826" y="25947"/>
                      <a:pt x="9917" y="25950"/>
                      <a:pt x="10006" y="25950"/>
                    </a:cubicBezTo>
                    <a:cubicBezTo>
                      <a:pt x="12213" y="25950"/>
                      <a:pt x="14052" y="24217"/>
                      <a:pt x="14106" y="22019"/>
                    </a:cubicBezTo>
                    <a:lnTo>
                      <a:pt x="14139" y="20847"/>
                    </a:lnTo>
                    <a:cubicBezTo>
                      <a:pt x="14213" y="17933"/>
                      <a:pt x="13803" y="15028"/>
                      <a:pt x="12929" y="12246"/>
                    </a:cubicBezTo>
                    <a:lnTo>
                      <a:pt x="12075" y="9537"/>
                    </a:lnTo>
                    <a:cubicBezTo>
                      <a:pt x="10810" y="5522"/>
                      <a:pt x="7976" y="2160"/>
                      <a:pt x="4188" y="194"/>
                    </a:cubicBezTo>
                    <a:cubicBezTo>
                      <a:pt x="3827" y="62"/>
                      <a:pt x="3461" y="0"/>
                      <a:pt x="3105"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1" name="Google Shape;2981;p63"/>
              <p:cNvSpPr/>
              <p:nvPr/>
            </p:nvSpPr>
            <p:spPr>
              <a:xfrm>
                <a:off x="2371968" y="3613540"/>
                <a:ext cx="779446" cy="151637"/>
              </a:xfrm>
              <a:custGeom>
                <a:avLst/>
                <a:gdLst/>
                <a:ahLst/>
                <a:cxnLst/>
                <a:rect l="l" t="t" r="r" b="b"/>
                <a:pathLst>
                  <a:path w="9751" h="1897" extrusionOk="0">
                    <a:moveTo>
                      <a:pt x="4026" y="0"/>
                    </a:moveTo>
                    <a:cubicBezTo>
                      <a:pt x="2284" y="0"/>
                      <a:pt x="875" y="416"/>
                      <a:pt x="1" y="757"/>
                    </a:cubicBezTo>
                    <a:cubicBezTo>
                      <a:pt x="623" y="1192"/>
                      <a:pt x="1369" y="1467"/>
                      <a:pt x="2177" y="1523"/>
                    </a:cubicBezTo>
                    <a:lnTo>
                      <a:pt x="2205" y="1523"/>
                    </a:lnTo>
                    <a:cubicBezTo>
                      <a:pt x="2205" y="1528"/>
                      <a:pt x="2209" y="1528"/>
                      <a:pt x="2209" y="1528"/>
                    </a:cubicBezTo>
                    <a:lnTo>
                      <a:pt x="2219" y="1528"/>
                    </a:lnTo>
                    <a:lnTo>
                      <a:pt x="7873" y="1887"/>
                    </a:lnTo>
                    <a:cubicBezTo>
                      <a:pt x="7963" y="1892"/>
                      <a:pt x="8051" y="1896"/>
                      <a:pt x="8144" y="1896"/>
                    </a:cubicBezTo>
                    <a:cubicBezTo>
                      <a:pt x="8709" y="1896"/>
                      <a:pt x="9256" y="1780"/>
                      <a:pt x="9750" y="1574"/>
                    </a:cubicBezTo>
                    <a:lnTo>
                      <a:pt x="9293" y="1313"/>
                    </a:lnTo>
                    <a:cubicBezTo>
                      <a:pt x="7375" y="327"/>
                      <a:pt x="5571" y="0"/>
                      <a:pt x="4026"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2" name="Google Shape;2982;p63"/>
              <p:cNvSpPr/>
              <p:nvPr/>
            </p:nvSpPr>
            <p:spPr>
              <a:xfrm>
                <a:off x="2224965" y="1691318"/>
                <a:ext cx="985839" cy="1824117"/>
              </a:xfrm>
              <a:custGeom>
                <a:avLst/>
                <a:gdLst/>
                <a:ahLst/>
                <a:cxnLst/>
                <a:rect l="l" t="t" r="r" b="b"/>
                <a:pathLst>
                  <a:path w="12333" h="22820" extrusionOk="0">
                    <a:moveTo>
                      <a:pt x="2876" y="0"/>
                    </a:moveTo>
                    <a:cubicBezTo>
                      <a:pt x="1331" y="103"/>
                      <a:pt x="1" y="1364"/>
                      <a:pt x="1" y="3026"/>
                    </a:cubicBezTo>
                    <a:lnTo>
                      <a:pt x="1" y="9549"/>
                    </a:lnTo>
                    <a:cubicBezTo>
                      <a:pt x="14" y="9545"/>
                      <a:pt x="29" y="9539"/>
                      <a:pt x="46" y="9539"/>
                    </a:cubicBezTo>
                    <a:lnTo>
                      <a:pt x="66" y="9539"/>
                    </a:lnTo>
                    <a:lnTo>
                      <a:pt x="66" y="4474"/>
                    </a:lnTo>
                    <a:cubicBezTo>
                      <a:pt x="66" y="3086"/>
                      <a:pt x="1322" y="2050"/>
                      <a:pt x="2742" y="2050"/>
                    </a:cubicBezTo>
                    <a:cubicBezTo>
                      <a:pt x="3050" y="2050"/>
                      <a:pt x="3367" y="2101"/>
                      <a:pt x="3680" y="2205"/>
                    </a:cubicBezTo>
                    <a:cubicBezTo>
                      <a:pt x="6113" y="3371"/>
                      <a:pt x="8097" y="5146"/>
                      <a:pt x="9404" y="7293"/>
                    </a:cubicBezTo>
                    <a:cubicBezTo>
                      <a:pt x="9591" y="7172"/>
                      <a:pt x="9774" y="7041"/>
                      <a:pt x="9951" y="6911"/>
                    </a:cubicBezTo>
                    <a:cubicBezTo>
                      <a:pt x="9951" y="6906"/>
                      <a:pt x="9955" y="6901"/>
                      <a:pt x="9960" y="6901"/>
                    </a:cubicBezTo>
                    <a:cubicBezTo>
                      <a:pt x="8690" y="4026"/>
                      <a:pt x="6468" y="1649"/>
                      <a:pt x="3638" y="164"/>
                    </a:cubicBezTo>
                    <a:cubicBezTo>
                      <a:pt x="3386" y="70"/>
                      <a:pt x="3128" y="19"/>
                      <a:pt x="2876" y="0"/>
                    </a:cubicBezTo>
                    <a:close/>
                    <a:moveTo>
                      <a:pt x="1" y="9955"/>
                    </a:moveTo>
                    <a:lnTo>
                      <a:pt x="1" y="14321"/>
                    </a:lnTo>
                    <a:cubicBezTo>
                      <a:pt x="18" y="14312"/>
                      <a:pt x="42" y="14302"/>
                      <a:pt x="66" y="14302"/>
                    </a:cubicBezTo>
                    <a:lnTo>
                      <a:pt x="66" y="9965"/>
                    </a:lnTo>
                    <a:cubicBezTo>
                      <a:pt x="52" y="9959"/>
                      <a:pt x="42" y="9959"/>
                      <a:pt x="38" y="9959"/>
                    </a:cubicBezTo>
                    <a:cubicBezTo>
                      <a:pt x="24" y="9959"/>
                      <a:pt x="10" y="9959"/>
                      <a:pt x="1" y="9955"/>
                    </a:cubicBezTo>
                    <a:close/>
                    <a:moveTo>
                      <a:pt x="10133" y="7298"/>
                    </a:moveTo>
                    <a:cubicBezTo>
                      <a:pt x="9964" y="7425"/>
                      <a:pt x="9792" y="7541"/>
                      <a:pt x="9619" y="7658"/>
                    </a:cubicBezTo>
                    <a:cubicBezTo>
                      <a:pt x="9983" y="8302"/>
                      <a:pt x="10287" y="8979"/>
                      <a:pt x="10530" y="9679"/>
                    </a:cubicBezTo>
                    <a:lnTo>
                      <a:pt x="11268" y="11851"/>
                    </a:lnTo>
                    <a:cubicBezTo>
                      <a:pt x="11664" y="13004"/>
                      <a:pt x="11949" y="14185"/>
                      <a:pt x="12122" y="15381"/>
                    </a:cubicBezTo>
                    <a:cubicBezTo>
                      <a:pt x="12145" y="15377"/>
                      <a:pt x="12169" y="15372"/>
                      <a:pt x="12192" y="15367"/>
                    </a:cubicBezTo>
                    <a:lnTo>
                      <a:pt x="12206" y="15367"/>
                    </a:lnTo>
                    <a:cubicBezTo>
                      <a:pt x="12048" y="13808"/>
                      <a:pt x="11729" y="12267"/>
                      <a:pt x="11263" y="10763"/>
                    </a:cubicBezTo>
                    <a:lnTo>
                      <a:pt x="10520" y="8382"/>
                    </a:lnTo>
                    <a:cubicBezTo>
                      <a:pt x="10404" y="8013"/>
                      <a:pt x="10273" y="7653"/>
                      <a:pt x="10133" y="7298"/>
                    </a:cubicBezTo>
                    <a:close/>
                    <a:moveTo>
                      <a:pt x="12244" y="15782"/>
                    </a:moveTo>
                    <a:cubicBezTo>
                      <a:pt x="12225" y="15787"/>
                      <a:pt x="12201" y="15792"/>
                      <a:pt x="12178" y="15797"/>
                    </a:cubicBezTo>
                    <a:cubicBezTo>
                      <a:pt x="12267" y="16521"/>
                      <a:pt x="12318" y="17249"/>
                      <a:pt x="12328" y="17978"/>
                    </a:cubicBezTo>
                    <a:cubicBezTo>
                      <a:pt x="12332" y="17244"/>
                      <a:pt x="12304" y="16511"/>
                      <a:pt x="12244" y="15782"/>
                    </a:cubicBezTo>
                    <a:close/>
                    <a:moveTo>
                      <a:pt x="1" y="14709"/>
                    </a:moveTo>
                    <a:lnTo>
                      <a:pt x="1" y="18799"/>
                    </a:lnTo>
                    <a:cubicBezTo>
                      <a:pt x="1" y="19098"/>
                      <a:pt x="42" y="19392"/>
                      <a:pt x="113" y="19668"/>
                    </a:cubicBezTo>
                    <a:cubicBezTo>
                      <a:pt x="80" y="19481"/>
                      <a:pt x="61" y="19284"/>
                      <a:pt x="66" y="19088"/>
                    </a:cubicBezTo>
                    <a:lnTo>
                      <a:pt x="66" y="14756"/>
                    </a:lnTo>
                    <a:cubicBezTo>
                      <a:pt x="38" y="14737"/>
                      <a:pt x="14" y="14722"/>
                      <a:pt x="1" y="14709"/>
                    </a:cubicBezTo>
                    <a:close/>
                    <a:moveTo>
                      <a:pt x="8382" y="22806"/>
                    </a:moveTo>
                    <a:lnTo>
                      <a:pt x="8475" y="22810"/>
                    </a:lnTo>
                    <a:cubicBezTo>
                      <a:pt x="8555" y="22815"/>
                      <a:pt x="8634" y="22819"/>
                      <a:pt x="8714" y="22819"/>
                    </a:cubicBezTo>
                    <a:lnTo>
                      <a:pt x="8718" y="22819"/>
                    </a:lnTo>
                    <a:cubicBezTo>
                      <a:pt x="8643" y="22819"/>
                      <a:pt x="8569" y="22815"/>
                      <a:pt x="8494" y="22810"/>
                    </a:cubicBezTo>
                    <a:lnTo>
                      <a:pt x="8382" y="22806"/>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3" name="Google Shape;2983;p63"/>
              <p:cNvSpPr/>
              <p:nvPr/>
            </p:nvSpPr>
            <p:spPr>
              <a:xfrm>
                <a:off x="2228322" y="1855187"/>
                <a:ext cx="986558" cy="1660091"/>
              </a:xfrm>
              <a:custGeom>
                <a:avLst/>
                <a:gdLst/>
                <a:ahLst/>
                <a:cxnLst/>
                <a:rect l="l" t="t" r="r" b="b"/>
                <a:pathLst>
                  <a:path w="12342" h="20768" extrusionOk="0">
                    <a:moveTo>
                      <a:pt x="2699" y="0"/>
                    </a:moveTo>
                    <a:cubicBezTo>
                      <a:pt x="1280" y="0"/>
                      <a:pt x="24" y="1035"/>
                      <a:pt x="24" y="2424"/>
                    </a:cubicBezTo>
                    <a:lnTo>
                      <a:pt x="24" y="17038"/>
                    </a:lnTo>
                    <a:cubicBezTo>
                      <a:pt x="0" y="18846"/>
                      <a:pt x="1545" y="20354"/>
                      <a:pt x="3545" y="20471"/>
                    </a:cubicBezTo>
                    <a:lnTo>
                      <a:pt x="8452" y="20760"/>
                    </a:lnTo>
                    <a:cubicBezTo>
                      <a:pt x="8532" y="20765"/>
                      <a:pt x="8612" y="20767"/>
                      <a:pt x="8691" y="20767"/>
                    </a:cubicBezTo>
                    <a:cubicBezTo>
                      <a:pt x="10608" y="20767"/>
                      <a:pt x="12204" y="19380"/>
                      <a:pt x="12253" y="17622"/>
                    </a:cubicBezTo>
                    <a:lnTo>
                      <a:pt x="12276" y="16684"/>
                    </a:lnTo>
                    <a:cubicBezTo>
                      <a:pt x="12342" y="14353"/>
                      <a:pt x="11987" y="12028"/>
                      <a:pt x="11226" y="9801"/>
                    </a:cubicBezTo>
                    <a:lnTo>
                      <a:pt x="10488" y="7629"/>
                    </a:lnTo>
                    <a:cubicBezTo>
                      <a:pt x="9390" y="4417"/>
                      <a:pt x="6925" y="1728"/>
                      <a:pt x="3638" y="155"/>
                    </a:cubicBezTo>
                    <a:cubicBezTo>
                      <a:pt x="3325" y="49"/>
                      <a:pt x="3008" y="0"/>
                      <a:pt x="2699"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4" name="Google Shape;2984;p63"/>
              <p:cNvSpPr/>
              <p:nvPr/>
            </p:nvSpPr>
            <p:spPr>
              <a:xfrm>
                <a:off x="2224965" y="2242957"/>
                <a:ext cx="809982" cy="245001"/>
              </a:xfrm>
              <a:custGeom>
                <a:avLst/>
                <a:gdLst/>
                <a:ahLst/>
                <a:cxnLst/>
                <a:rect l="l" t="t" r="r" b="b"/>
                <a:pathLst>
                  <a:path w="10133" h="3065" extrusionOk="0">
                    <a:moveTo>
                      <a:pt x="9960" y="0"/>
                    </a:moveTo>
                    <a:cubicBezTo>
                      <a:pt x="9955" y="0"/>
                      <a:pt x="9951" y="5"/>
                      <a:pt x="9951" y="10"/>
                    </a:cubicBezTo>
                    <a:cubicBezTo>
                      <a:pt x="9774" y="140"/>
                      <a:pt x="9591" y="271"/>
                      <a:pt x="9404" y="392"/>
                    </a:cubicBezTo>
                    <a:cubicBezTo>
                      <a:pt x="9479" y="515"/>
                      <a:pt x="9550" y="636"/>
                      <a:pt x="9619" y="757"/>
                    </a:cubicBezTo>
                    <a:cubicBezTo>
                      <a:pt x="9792" y="640"/>
                      <a:pt x="9964" y="524"/>
                      <a:pt x="10133" y="397"/>
                    </a:cubicBezTo>
                    <a:cubicBezTo>
                      <a:pt x="10076" y="262"/>
                      <a:pt x="10020" y="131"/>
                      <a:pt x="9960" y="0"/>
                    </a:cubicBezTo>
                    <a:close/>
                    <a:moveTo>
                      <a:pt x="46" y="2638"/>
                    </a:moveTo>
                    <a:cubicBezTo>
                      <a:pt x="29" y="2638"/>
                      <a:pt x="14" y="2644"/>
                      <a:pt x="1" y="2648"/>
                    </a:cubicBezTo>
                    <a:lnTo>
                      <a:pt x="1" y="3054"/>
                    </a:lnTo>
                    <a:cubicBezTo>
                      <a:pt x="10" y="3058"/>
                      <a:pt x="24" y="3058"/>
                      <a:pt x="38" y="3058"/>
                    </a:cubicBezTo>
                    <a:cubicBezTo>
                      <a:pt x="42" y="3058"/>
                      <a:pt x="52" y="3058"/>
                      <a:pt x="66" y="3064"/>
                    </a:cubicBezTo>
                    <a:lnTo>
                      <a:pt x="66" y="2638"/>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5" name="Google Shape;2985;p63"/>
              <p:cNvSpPr/>
              <p:nvPr/>
            </p:nvSpPr>
            <p:spPr>
              <a:xfrm>
                <a:off x="2230161" y="2274292"/>
                <a:ext cx="763779" cy="213986"/>
              </a:xfrm>
              <a:custGeom>
                <a:avLst/>
                <a:gdLst/>
                <a:ahLst/>
                <a:cxnLst/>
                <a:rect l="l" t="t" r="r" b="b"/>
                <a:pathLst>
                  <a:path w="9555" h="2677" extrusionOk="0">
                    <a:moveTo>
                      <a:pt x="9339" y="0"/>
                    </a:moveTo>
                    <a:cubicBezTo>
                      <a:pt x="6151" y="2093"/>
                      <a:pt x="1662" y="2256"/>
                      <a:pt x="360" y="2256"/>
                    </a:cubicBezTo>
                    <a:cubicBezTo>
                      <a:pt x="160" y="2256"/>
                      <a:pt x="33" y="2252"/>
                      <a:pt x="1" y="2246"/>
                    </a:cubicBezTo>
                    <a:lnTo>
                      <a:pt x="1" y="2672"/>
                    </a:lnTo>
                    <a:cubicBezTo>
                      <a:pt x="66" y="2672"/>
                      <a:pt x="220" y="2677"/>
                      <a:pt x="453" y="2677"/>
                    </a:cubicBezTo>
                    <a:cubicBezTo>
                      <a:pt x="1910" y="2677"/>
                      <a:pt x="6309" y="2489"/>
                      <a:pt x="9554" y="365"/>
                    </a:cubicBezTo>
                    <a:cubicBezTo>
                      <a:pt x="9485" y="244"/>
                      <a:pt x="9414" y="123"/>
                      <a:pt x="9339"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6" name="Google Shape;2986;p63"/>
              <p:cNvSpPr/>
              <p:nvPr/>
            </p:nvSpPr>
            <p:spPr>
              <a:xfrm>
                <a:off x="2230161" y="2834563"/>
                <a:ext cx="968253" cy="158351"/>
              </a:xfrm>
              <a:custGeom>
                <a:avLst/>
                <a:gdLst/>
                <a:ahLst/>
                <a:cxnLst/>
                <a:rect l="l" t="t" r="r" b="b"/>
                <a:pathLst>
                  <a:path w="12113" h="1981" extrusionOk="0">
                    <a:moveTo>
                      <a:pt x="1" y="0"/>
                    </a:moveTo>
                    <a:lnTo>
                      <a:pt x="1" y="454"/>
                    </a:lnTo>
                    <a:cubicBezTo>
                      <a:pt x="472" y="790"/>
                      <a:pt x="2457" y="1980"/>
                      <a:pt x="6828" y="1980"/>
                    </a:cubicBezTo>
                    <a:cubicBezTo>
                      <a:pt x="8308" y="1980"/>
                      <a:pt x="10059" y="1845"/>
                      <a:pt x="12113" y="1495"/>
                    </a:cubicBezTo>
                    <a:cubicBezTo>
                      <a:pt x="12095" y="1355"/>
                      <a:pt x="12076" y="1215"/>
                      <a:pt x="12057" y="1079"/>
                    </a:cubicBezTo>
                    <a:cubicBezTo>
                      <a:pt x="10050" y="1420"/>
                      <a:pt x="8336" y="1551"/>
                      <a:pt x="6888" y="1551"/>
                    </a:cubicBezTo>
                    <a:cubicBezTo>
                      <a:pt x="2050" y="1551"/>
                      <a:pt x="188" y="71"/>
                      <a:pt x="160" y="47"/>
                    </a:cubicBezTo>
                    <a:cubicBezTo>
                      <a:pt x="117" y="15"/>
                      <a:pt x="71" y="0"/>
                      <a:pt x="24"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2987" name="Google Shape;2987;p63"/>
            <p:cNvGrpSpPr/>
            <p:nvPr/>
          </p:nvGrpSpPr>
          <p:grpSpPr>
            <a:xfrm>
              <a:off x="1134313" y="1349752"/>
              <a:ext cx="1808075" cy="1636446"/>
              <a:chOff x="1134313" y="1349752"/>
              <a:chExt cx="1808075" cy="1636446"/>
            </a:xfrm>
          </p:grpSpPr>
          <p:sp>
            <p:nvSpPr>
              <p:cNvPr id="2988" name="Google Shape;2988;p63"/>
              <p:cNvSpPr/>
              <p:nvPr/>
            </p:nvSpPr>
            <p:spPr>
              <a:xfrm>
                <a:off x="1134313" y="2621374"/>
                <a:ext cx="330691" cy="353952"/>
              </a:xfrm>
              <a:custGeom>
                <a:avLst/>
                <a:gdLst/>
                <a:ahLst/>
                <a:cxnLst/>
                <a:rect l="l" t="t" r="r" b="b"/>
                <a:pathLst>
                  <a:path w="4137" h="4428" extrusionOk="0">
                    <a:moveTo>
                      <a:pt x="3876" y="1"/>
                    </a:moveTo>
                    <a:cubicBezTo>
                      <a:pt x="3727" y="1"/>
                      <a:pt x="3610" y="118"/>
                      <a:pt x="3610" y="263"/>
                    </a:cubicBezTo>
                    <a:cubicBezTo>
                      <a:pt x="3610" y="1309"/>
                      <a:pt x="2760" y="2158"/>
                      <a:pt x="1718" y="2158"/>
                    </a:cubicBezTo>
                    <a:lnTo>
                      <a:pt x="1677" y="2158"/>
                    </a:lnTo>
                    <a:cubicBezTo>
                      <a:pt x="752" y="2158"/>
                      <a:pt x="0" y="2910"/>
                      <a:pt x="0" y="3830"/>
                    </a:cubicBezTo>
                    <a:lnTo>
                      <a:pt x="0" y="4166"/>
                    </a:lnTo>
                    <a:cubicBezTo>
                      <a:pt x="0" y="4311"/>
                      <a:pt x="121" y="4428"/>
                      <a:pt x="266" y="4428"/>
                    </a:cubicBezTo>
                    <a:cubicBezTo>
                      <a:pt x="411" y="4428"/>
                      <a:pt x="528" y="4311"/>
                      <a:pt x="528" y="4166"/>
                    </a:cubicBezTo>
                    <a:lnTo>
                      <a:pt x="528" y="3830"/>
                    </a:lnTo>
                    <a:cubicBezTo>
                      <a:pt x="528" y="3199"/>
                      <a:pt x="1042" y="2686"/>
                      <a:pt x="1677" y="2686"/>
                    </a:cubicBezTo>
                    <a:lnTo>
                      <a:pt x="1718" y="2686"/>
                    </a:lnTo>
                    <a:cubicBezTo>
                      <a:pt x="3050" y="2686"/>
                      <a:pt x="4137" y="1598"/>
                      <a:pt x="4137" y="263"/>
                    </a:cubicBezTo>
                    <a:cubicBezTo>
                      <a:pt x="4137" y="118"/>
                      <a:pt x="4020" y="1"/>
                      <a:pt x="3876"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9" name="Google Shape;2989;p63"/>
              <p:cNvSpPr/>
              <p:nvPr/>
            </p:nvSpPr>
            <p:spPr>
              <a:xfrm>
                <a:off x="1504179" y="2402749"/>
                <a:ext cx="146361" cy="245960"/>
              </a:xfrm>
              <a:custGeom>
                <a:avLst/>
                <a:gdLst/>
                <a:ahLst/>
                <a:cxnLst/>
                <a:rect l="l" t="t" r="r" b="b"/>
                <a:pathLst>
                  <a:path w="1831" h="3077" extrusionOk="0">
                    <a:moveTo>
                      <a:pt x="262" y="0"/>
                    </a:moveTo>
                    <a:cubicBezTo>
                      <a:pt x="117" y="0"/>
                      <a:pt x="1" y="117"/>
                      <a:pt x="1" y="262"/>
                    </a:cubicBezTo>
                    <a:lnTo>
                      <a:pt x="1" y="831"/>
                    </a:lnTo>
                    <a:cubicBezTo>
                      <a:pt x="1" y="1279"/>
                      <a:pt x="365" y="1643"/>
                      <a:pt x="813" y="1643"/>
                    </a:cubicBezTo>
                    <a:cubicBezTo>
                      <a:pt x="1084" y="1643"/>
                      <a:pt x="1308" y="1867"/>
                      <a:pt x="1308" y="2139"/>
                    </a:cubicBezTo>
                    <a:lnTo>
                      <a:pt x="1308" y="2811"/>
                    </a:lnTo>
                    <a:cubicBezTo>
                      <a:pt x="1308" y="2960"/>
                      <a:pt x="1425" y="3077"/>
                      <a:pt x="1570" y="3077"/>
                    </a:cubicBezTo>
                    <a:cubicBezTo>
                      <a:pt x="1714" y="3077"/>
                      <a:pt x="1831" y="2960"/>
                      <a:pt x="1831" y="2811"/>
                    </a:cubicBezTo>
                    <a:lnTo>
                      <a:pt x="1831" y="2139"/>
                    </a:lnTo>
                    <a:cubicBezTo>
                      <a:pt x="1831" y="1578"/>
                      <a:pt x="1373" y="1121"/>
                      <a:pt x="813" y="1121"/>
                    </a:cubicBezTo>
                    <a:cubicBezTo>
                      <a:pt x="654" y="1121"/>
                      <a:pt x="524" y="990"/>
                      <a:pt x="524" y="831"/>
                    </a:cubicBezTo>
                    <a:lnTo>
                      <a:pt x="524" y="262"/>
                    </a:lnTo>
                    <a:cubicBezTo>
                      <a:pt x="524" y="117"/>
                      <a:pt x="406" y="0"/>
                      <a:pt x="262" y="0"/>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0" name="Google Shape;2990;p63"/>
              <p:cNvSpPr/>
              <p:nvPr/>
            </p:nvSpPr>
            <p:spPr>
              <a:xfrm>
                <a:off x="1522484" y="2624811"/>
                <a:ext cx="169222" cy="361386"/>
              </a:xfrm>
              <a:custGeom>
                <a:avLst/>
                <a:gdLst/>
                <a:ahLst/>
                <a:cxnLst/>
                <a:rect l="l" t="t" r="r" b="b"/>
                <a:pathLst>
                  <a:path w="2117" h="4521" extrusionOk="0">
                    <a:moveTo>
                      <a:pt x="261" y="1"/>
                    </a:moveTo>
                    <a:cubicBezTo>
                      <a:pt x="117" y="1"/>
                      <a:pt x="0" y="117"/>
                      <a:pt x="0" y="262"/>
                    </a:cubicBezTo>
                    <a:lnTo>
                      <a:pt x="0" y="1457"/>
                    </a:lnTo>
                    <a:cubicBezTo>
                      <a:pt x="0" y="2018"/>
                      <a:pt x="453" y="2475"/>
                      <a:pt x="1013" y="2475"/>
                    </a:cubicBezTo>
                    <a:cubicBezTo>
                      <a:pt x="1332" y="2475"/>
                      <a:pt x="1588" y="2732"/>
                      <a:pt x="1588" y="3050"/>
                    </a:cubicBezTo>
                    <a:lnTo>
                      <a:pt x="1588" y="4259"/>
                    </a:lnTo>
                    <a:cubicBezTo>
                      <a:pt x="1588" y="4404"/>
                      <a:pt x="1709" y="4520"/>
                      <a:pt x="1854" y="4520"/>
                    </a:cubicBezTo>
                    <a:cubicBezTo>
                      <a:pt x="1998" y="4520"/>
                      <a:pt x="2116" y="4404"/>
                      <a:pt x="2116" y="4259"/>
                    </a:cubicBezTo>
                    <a:lnTo>
                      <a:pt x="2116" y="3050"/>
                    </a:lnTo>
                    <a:cubicBezTo>
                      <a:pt x="2116" y="2442"/>
                      <a:pt x="1621" y="1952"/>
                      <a:pt x="1013" y="1952"/>
                    </a:cubicBezTo>
                    <a:cubicBezTo>
                      <a:pt x="743" y="1952"/>
                      <a:pt x="524" y="1727"/>
                      <a:pt x="524" y="1457"/>
                    </a:cubicBezTo>
                    <a:lnTo>
                      <a:pt x="524" y="262"/>
                    </a:lnTo>
                    <a:cubicBezTo>
                      <a:pt x="524" y="117"/>
                      <a:pt x="407" y="1"/>
                      <a:pt x="261"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1" name="Google Shape;2991;p63"/>
              <p:cNvSpPr/>
              <p:nvPr/>
            </p:nvSpPr>
            <p:spPr>
              <a:xfrm>
                <a:off x="2611617" y="2621374"/>
                <a:ext cx="330771" cy="353952"/>
              </a:xfrm>
              <a:custGeom>
                <a:avLst/>
                <a:gdLst/>
                <a:ahLst/>
                <a:cxnLst/>
                <a:rect l="l" t="t" r="r" b="b"/>
                <a:pathLst>
                  <a:path w="4138" h="4428" extrusionOk="0">
                    <a:moveTo>
                      <a:pt x="263" y="1"/>
                    </a:moveTo>
                    <a:cubicBezTo>
                      <a:pt x="118" y="1"/>
                      <a:pt x="0" y="118"/>
                      <a:pt x="0" y="263"/>
                    </a:cubicBezTo>
                    <a:cubicBezTo>
                      <a:pt x="0" y="1598"/>
                      <a:pt x="1089" y="2686"/>
                      <a:pt x="2420" y="2686"/>
                    </a:cubicBezTo>
                    <a:lnTo>
                      <a:pt x="2461" y="2686"/>
                    </a:lnTo>
                    <a:cubicBezTo>
                      <a:pt x="3097" y="2686"/>
                      <a:pt x="3610" y="3199"/>
                      <a:pt x="3610" y="3830"/>
                    </a:cubicBezTo>
                    <a:lnTo>
                      <a:pt x="3610" y="4166"/>
                    </a:lnTo>
                    <a:cubicBezTo>
                      <a:pt x="3610" y="4311"/>
                      <a:pt x="3727" y="4428"/>
                      <a:pt x="3872" y="4428"/>
                    </a:cubicBezTo>
                    <a:cubicBezTo>
                      <a:pt x="4017" y="4428"/>
                      <a:pt x="4138" y="4311"/>
                      <a:pt x="4138" y="4166"/>
                    </a:cubicBezTo>
                    <a:lnTo>
                      <a:pt x="4138" y="3830"/>
                    </a:lnTo>
                    <a:cubicBezTo>
                      <a:pt x="4138" y="2910"/>
                      <a:pt x="3386" y="2158"/>
                      <a:pt x="2461" y="2158"/>
                    </a:cubicBezTo>
                    <a:lnTo>
                      <a:pt x="2420" y="2158"/>
                    </a:lnTo>
                    <a:cubicBezTo>
                      <a:pt x="1379" y="2158"/>
                      <a:pt x="528" y="1309"/>
                      <a:pt x="528" y="263"/>
                    </a:cubicBezTo>
                    <a:cubicBezTo>
                      <a:pt x="528" y="118"/>
                      <a:pt x="407" y="1"/>
                      <a:pt x="263"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2" name="Google Shape;2992;p63"/>
              <p:cNvSpPr/>
              <p:nvPr/>
            </p:nvSpPr>
            <p:spPr>
              <a:xfrm>
                <a:off x="2426165" y="2402749"/>
                <a:ext cx="146361" cy="245960"/>
              </a:xfrm>
              <a:custGeom>
                <a:avLst/>
                <a:gdLst/>
                <a:ahLst/>
                <a:cxnLst/>
                <a:rect l="l" t="t" r="r" b="b"/>
                <a:pathLst>
                  <a:path w="1831" h="3077" extrusionOk="0">
                    <a:moveTo>
                      <a:pt x="1570" y="0"/>
                    </a:moveTo>
                    <a:cubicBezTo>
                      <a:pt x="1424" y="0"/>
                      <a:pt x="1307" y="117"/>
                      <a:pt x="1307" y="262"/>
                    </a:cubicBezTo>
                    <a:lnTo>
                      <a:pt x="1307" y="831"/>
                    </a:lnTo>
                    <a:cubicBezTo>
                      <a:pt x="1307" y="990"/>
                      <a:pt x="1177" y="1121"/>
                      <a:pt x="1018" y="1121"/>
                    </a:cubicBezTo>
                    <a:cubicBezTo>
                      <a:pt x="458" y="1121"/>
                      <a:pt x="1" y="1578"/>
                      <a:pt x="1" y="2139"/>
                    </a:cubicBezTo>
                    <a:lnTo>
                      <a:pt x="1" y="2811"/>
                    </a:lnTo>
                    <a:cubicBezTo>
                      <a:pt x="1" y="2960"/>
                      <a:pt x="117" y="3077"/>
                      <a:pt x="262" y="3077"/>
                    </a:cubicBezTo>
                    <a:cubicBezTo>
                      <a:pt x="406" y="3077"/>
                      <a:pt x="523" y="2960"/>
                      <a:pt x="523" y="2811"/>
                    </a:cubicBezTo>
                    <a:lnTo>
                      <a:pt x="523" y="2139"/>
                    </a:lnTo>
                    <a:cubicBezTo>
                      <a:pt x="523" y="1867"/>
                      <a:pt x="747" y="1643"/>
                      <a:pt x="1018" y="1643"/>
                    </a:cubicBezTo>
                    <a:cubicBezTo>
                      <a:pt x="1466" y="1643"/>
                      <a:pt x="1831" y="1279"/>
                      <a:pt x="1831" y="831"/>
                    </a:cubicBezTo>
                    <a:lnTo>
                      <a:pt x="1831" y="262"/>
                    </a:lnTo>
                    <a:cubicBezTo>
                      <a:pt x="1831" y="117"/>
                      <a:pt x="1714" y="0"/>
                      <a:pt x="1570" y="0"/>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3" name="Google Shape;2993;p63"/>
              <p:cNvSpPr/>
              <p:nvPr/>
            </p:nvSpPr>
            <p:spPr>
              <a:xfrm>
                <a:off x="2385077" y="2624811"/>
                <a:ext cx="169143" cy="361386"/>
              </a:xfrm>
              <a:custGeom>
                <a:avLst/>
                <a:gdLst/>
                <a:ahLst/>
                <a:cxnLst/>
                <a:rect l="l" t="t" r="r" b="b"/>
                <a:pathLst>
                  <a:path w="2116" h="4521" extrusionOk="0">
                    <a:moveTo>
                      <a:pt x="1854" y="1"/>
                    </a:moveTo>
                    <a:cubicBezTo>
                      <a:pt x="1709" y="1"/>
                      <a:pt x="1593" y="117"/>
                      <a:pt x="1593" y="262"/>
                    </a:cubicBezTo>
                    <a:lnTo>
                      <a:pt x="1593" y="1457"/>
                    </a:lnTo>
                    <a:cubicBezTo>
                      <a:pt x="1593" y="1727"/>
                      <a:pt x="1369" y="1952"/>
                      <a:pt x="1103" y="1952"/>
                    </a:cubicBezTo>
                    <a:cubicBezTo>
                      <a:pt x="496" y="1952"/>
                      <a:pt x="0" y="2442"/>
                      <a:pt x="0" y="3050"/>
                    </a:cubicBezTo>
                    <a:lnTo>
                      <a:pt x="0" y="4259"/>
                    </a:lnTo>
                    <a:cubicBezTo>
                      <a:pt x="0" y="4404"/>
                      <a:pt x="117" y="4520"/>
                      <a:pt x="262" y="4520"/>
                    </a:cubicBezTo>
                    <a:cubicBezTo>
                      <a:pt x="407" y="4520"/>
                      <a:pt x="528" y="4404"/>
                      <a:pt x="528" y="4259"/>
                    </a:cubicBezTo>
                    <a:lnTo>
                      <a:pt x="528" y="3050"/>
                    </a:lnTo>
                    <a:cubicBezTo>
                      <a:pt x="528" y="2732"/>
                      <a:pt x="785" y="2475"/>
                      <a:pt x="1103" y="2475"/>
                    </a:cubicBezTo>
                    <a:cubicBezTo>
                      <a:pt x="1663" y="2475"/>
                      <a:pt x="2116" y="2018"/>
                      <a:pt x="2116" y="1457"/>
                    </a:cubicBezTo>
                    <a:lnTo>
                      <a:pt x="2116" y="262"/>
                    </a:lnTo>
                    <a:cubicBezTo>
                      <a:pt x="2116" y="117"/>
                      <a:pt x="1999" y="1"/>
                      <a:pt x="1854"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4" name="Google Shape;2994;p63"/>
              <p:cNvSpPr/>
              <p:nvPr/>
            </p:nvSpPr>
            <p:spPr>
              <a:xfrm>
                <a:off x="1232075" y="1349752"/>
                <a:ext cx="1612529" cy="1318608"/>
              </a:xfrm>
              <a:custGeom>
                <a:avLst/>
                <a:gdLst/>
                <a:ahLst/>
                <a:cxnLst/>
                <a:rect l="l" t="t" r="r" b="b"/>
                <a:pathLst>
                  <a:path w="20173" h="16496" extrusionOk="0">
                    <a:moveTo>
                      <a:pt x="10077" y="0"/>
                    </a:moveTo>
                    <a:cubicBezTo>
                      <a:pt x="9872" y="0"/>
                      <a:pt x="9708" y="164"/>
                      <a:pt x="9708" y="370"/>
                    </a:cubicBezTo>
                    <a:lnTo>
                      <a:pt x="9708" y="486"/>
                    </a:lnTo>
                    <a:cubicBezTo>
                      <a:pt x="9699" y="495"/>
                      <a:pt x="9694" y="500"/>
                      <a:pt x="9694" y="500"/>
                    </a:cubicBezTo>
                    <a:cubicBezTo>
                      <a:pt x="9694" y="500"/>
                      <a:pt x="9493" y="8807"/>
                      <a:pt x="9269" y="12551"/>
                    </a:cubicBezTo>
                    <a:cubicBezTo>
                      <a:pt x="9111" y="15256"/>
                      <a:pt x="8513" y="15368"/>
                      <a:pt x="7775" y="15671"/>
                    </a:cubicBezTo>
                    <a:cubicBezTo>
                      <a:pt x="7775" y="15671"/>
                      <a:pt x="7784" y="15689"/>
                      <a:pt x="7808" y="15723"/>
                    </a:cubicBezTo>
                    <a:lnTo>
                      <a:pt x="2092" y="15723"/>
                    </a:lnTo>
                    <a:cubicBezTo>
                      <a:pt x="1345" y="15723"/>
                      <a:pt x="739" y="15116"/>
                      <a:pt x="739" y="14368"/>
                    </a:cubicBezTo>
                    <a:lnTo>
                      <a:pt x="739" y="13435"/>
                    </a:lnTo>
                    <a:cubicBezTo>
                      <a:pt x="739" y="13234"/>
                      <a:pt x="570" y="13066"/>
                      <a:pt x="370" y="13066"/>
                    </a:cubicBezTo>
                    <a:cubicBezTo>
                      <a:pt x="164" y="13066"/>
                      <a:pt x="0" y="13234"/>
                      <a:pt x="0" y="13435"/>
                    </a:cubicBezTo>
                    <a:lnTo>
                      <a:pt x="0" y="14368"/>
                    </a:lnTo>
                    <a:cubicBezTo>
                      <a:pt x="0" y="15521"/>
                      <a:pt x="939" y="16456"/>
                      <a:pt x="2092" y="16456"/>
                    </a:cubicBezTo>
                    <a:lnTo>
                      <a:pt x="7896" y="16456"/>
                    </a:lnTo>
                    <a:cubicBezTo>
                      <a:pt x="8340" y="16456"/>
                      <a:pt x="8760" y="16344"/>
                      <a:pt x="9125" y="16143"/>
                    </a:cubicBezTo>
                    <a:cubicBezTo>
                      <a:pt x="9391" y="16026"/>
                      <a:pt x="9699" y="15797"/>
                      <a:pt x="10045" y="15396"/>
                    </a:cubicBezTo>
                    <a:cubicBezTo>
                      <a:pt x="10045" y="15396"/>
                      <a:pt x="10942" y="16495"/>
                      <a:pt x="12405" y="16495"/>
                    </a:cubicBezTo>
                    <a:cubicBezTo>
                      <a:pt x="12559" y="16495"/>
                      <a:pt x="12721" y="16483"/>
                      <a:pt x="12888" y="16456"/>
                    </a:cubicBezTo>
                    <a:lnTo>
                      <a:pt x="18081" y="16456"/>
                    </a:lnTo>
                    <a:cubicBezTo>
                      <a:pt x="19234" y="16456"/>
                      <a:pt x="20172" y="15521"/>
                      <a:pt x="20172" y="14368"/>
                    </a:cubicBezTo>
                    <a:lnTo>
                      <a:pt x="20172" y="13435"/>
                    </a:lnTo>
                    <a:cubicBezTo>
                      <a:pt x="20172" y="13234"/>
                      <a:pt x="20010" y="13066"/>
                      <a:pt x="19803" y="13066"/>
                    </a:cubicBezTo>
                    <a:cubicBezTo>
                      <a:pt x="19603" y="13066"/>
                      <a:pt x="19435" y="13234"/>
                      <a:pt x="19435" y="13435"/>
                    </a:cubicBezTo>
                    <a:lnTo>
                      <a:pt x="19435" y="14368"/>
                    </a:lnTo>
                    <a:cubicBezTo>
                      <a:pt x="19435" y="15116"/>
                      <a:pt x="18827" y="15723"/>
                      <a:pt x="18081" y="15723"/>
                    </a:cubicBezTo>
                    <a:lnTo>
                      <a:pt x="12809" y="15723"/>
                    </a:lnTo>
                    <a:cubicBezTo>
                      <a:pt x="11935" y="15419"/>
                      <a:pt x="10955" y="14695"/>
                      <a:pt x="10806" y="13000"/>
                    </a:cubicBezTo>
                    <a:cubicBezTo>
                      <a:pt x="10596" y="10661"/>
                      <a:pt x="10693" y="6281"/>
                      <a:pt x="10465" y="1103"/>
                    </a:cubicBezTo>
                    <a:lnTo>
                      <a:pt x="10465" y="370"/>
                    </a:lnTo>
                    <a:cubicBezTo>
                      <a:pt x="10465" y="164"/>
                      <a:pt x="10301" y="0"/>
                      <a:pt x="10096" y="0"/>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5" name="Google Shape;2995;p63"/>
              <p:cNvSpPr/>
              <p:nvPr/>
            </p:nvSpPr>
            <p:spPr>
              <a:xfrm>
                <a:off x="1945348" y="1845115"/>
                <a:ext cx="183371" cy="25419"/>
              </a:xfrm>
              <a:custGeom>
                <a:avLst/>
                <a:gdLst/>
                <a:ahLst/>
                <a:cxnLst/>
                <a:rect l="l" t="t" r="r" b="b"/>
                <a:pathLst>
                  <a:path w="2294" h="318" extrusionOk="0">
                    <a:moveTo>
                      <a:pt x="1" y="0"/>
                    </a:moveTo>
                    <a:lnTo>
                      <a:pt x="1" y="317"/>
                    </a:lnTo>
                    <a:lnTo>
                      <a:pt x="2294" y="317"/>
                    </a:lnTo>
                    <a:lnTo>
                      <a:pt x="2294"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6" name="Google Shape;2996;p63"/>
              <p:cNvSpPr/>
              <p:nvPr/>
            </p:nvSpPr>
            <p:spPr>
              <a:xfrm>
                <a:off x="1945348" y="1669576"/>
                <a:ext cx="183371" cy="25579"/>
              </a:xfrm>
              <a:custGeom>
                <a:avLst/>
                <a:gdLst/>
                <a:ahLst/>
                <a:cxnLst/>
                <a:rect l="l" t="t" r="r" b="b"/>
                <a:pathLst>
                  <a:path w="2294" h="320" extrusionOk="0">
                    <a:moveTo>
                      <a:pt x="1" y="1"/>
                    </a:moveTo>
                    <a:lnTo>
                      <a:pt x="1" y="319"/>
                    </a:lnTo>
                    <a:lnTo>
                      <a:pt x="2294" y="319"/>
                    </a:lnTo>
                    <a:lnTo>
                      <a:pt x="2294"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7" name="Google Shape;2997;p63"/>
              <p:cNvSpPr/>
              <p:nvPr/>
            </p:nvSpPr>
            <p:spPr>
              <a:xfrm>
                <a:off x="1945348" y="1500911"/>
                <a:ext cx="183371" cy="25419"/>
              </a:xfrm>
              <a:custGeom>
                <a:avLst/>
                <a:gdLst/>
                <a:ahLst/>
                <a:cxnLst/>
                <a:rect l="l" t="t" r="r" b="b"/>
                <a:pathLst>
                  <a:path w="2294" h="318" extrusionOk="0">
                    <a:moveTo>
                      <a:pt x="1" y="1"/>
                    </a:moveTo>
                    <a:lnTo>
                      <a:pt x="1" y="318"/>
                    </a:lnTo>
                    <a:lnTo>
                      <a:pt x="2294" y="318"/>
                    </a:lnTo>
                    <a:lnTo>
                      <a:pt x="2294"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8" name="Google Shape;2998;p63"/>
              <p:cNvSpPr/>
              <p:nvPr/>
            </p:nvSpPr>
            <p:spPr>
              <a:xfrm>
                <a:off x="1945348" y="2333684"/>
                <a:ext cx="183371" cy="25419"/>
              </a:xfrm>
              <a:custGeom>
                <a:avLst/>
                <a:gdLst/>
                <a:ahLst/>
                <a:cxnLst/>
                <a:rect l="l" t="t" r="r" b="b"/>
                <a:pathLst>
                  <a:path w="2294" h="318" extrusionOk="0">
                    <a:moveTo>
                      <a:pt x="1" y="0"/>
                    </a:moveTo>
                    <a:lnTo>
                      <a:pt x="1" y="318"/>
                    </a:lnTo>
                    <a:lnTo>
                      <a:pt x="2294" y="318"/>
                    </a:lnTo>
                    <a:lnTo>
                      <a:pt x="2294"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9" name="Google Shape;2999;p63"/>
              <p:cNvSpPr/>
              <p:nvPr/>
            </p:nvSpPr>
            <p:spPr>
              <a:xfrm>
                <a:off x="1945348" y="2158225"/>
                <a:ext cx="183371" cy="25499"/>
              </a:xfrm>
              <a:custGeom>
                <a:avLst/>
                <a:gdLst/>
                <a:ahLst/>
                <a:cxnLst/>
                <a:rect l="l" t="t" r="r" b="b"/>
                <a:pathLst>
                  <a:path w="2294" h="319" extrusionOk="0">
                    <a:moveTo>
                      <a:pt x="1" y="0"/>
                    </a:moveTo>
                    <a:lnTo>
                      <a:pt x="1" y="318"/>
                    </a:lnTo>
                    <a:lnTo>
                      <a:pt x="2294" y="318"/>
                    </a:lnTo>
                    <a:lnTo>
                      <a:pt x="2294"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0" name="Google Shape;3000;p63"/>
              <p:cNvSpPr/>
              <p:nvPr/>
            </p:nvSpPr>
            <p:spPr>
              <a:xfrm>
                <a:off x="1945348" y="1989480"/>
                <a:ext cx="183371" cy="25419"/>
              </a:xfrm>
              <a:custGeom>
                <a:avLst/>
                <a:gdLst/>
                <a:ahLst/>
                <a:cxnLst/>
                <a:rect l="l" t="t" r="r" b="b"/>
                <a:pathLst>
                  <a:path w="2294" h="318" extrusionOk="0">
                    <a:moveTo>
                      <a:pt x="1" y="1"/>
                    </a:moveTo>
                    <a:lnTo>
                      <a:pt x="1" y="318"/>
                    </a:lnTo>
                    <a:lnTo>
                      <a:pt x="2294" y="318"/>
                    </a:lnTo>
                    <a:lnTo>
                      <a:pt x="2294"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3001" name="Google Shape;3001;p63"/>
          <p:cNvSpPr txBox="1">
            <a:spLocks noGrp="1"/>
          </p:cNvSpPr>
          <p:nvPr>
            <p:ph type="ctrTitle"/>
          </p:nvPr>
        </p:nvSpPr>
        <p:spPr>
          <a:xfrm>
            <a:off x="4516071" y="208434"/>
            <a:ext cx="5464541" cy="4568948"/>
          </a:xfrm>
          <a:prstGeom prst="rect">
            <a:avLst/>
          </a:prstGeom>
        </p:spPr>
        <p:txBody>
          <a:bodyPr spcFirstLastPara="1" wrap="square" lIns="121900" tIns="121900" rIns="121900" bIns="121900" anchor="ctr" anchorCtr="0">
            <a:noAutofit/>
          </a:bodyPr>
          <a:lstStyle/>
          <a:p>
            <a:r>
              <a:rPr lang="en" sz="5333" dirty="0">
                <a:solidFill>
                  <a:schemeClr val="lt2"/>
                </a:solidFill>
              </a:rPr>
              <a:t>PREDICTION OF LUNG CANCER </a:t>
            </a:r>
            <a:r>
              <a:rPr lang="en" sz="5333" dirty="0"/>
              <a:t> USING LOGISTIC REGRESSION ANALYSIS</a:t>
            </a:r>
            <a:endParaRPr sz="53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CD2321-5D1F-C470-3091-ECA2ACD8AFA5}"/>
              </a:ext>
            </a:extLst>
          </p:cNvPr>
          <p:cNvSpPr txBox="1"/>
          <p:nvPr/>
        </p:nvSpPr>
        <p:spPr>
          <a:xfrm>
            <a:off x="3904343" y="1465943"/>
            <a:ext cx="5007427" cy="400110"/>
          </a:xfrm>
          <a:prstGeom prst="rect">
            <a:avLst/>
          </a:prstGeom>
          <a:noFill/>
        </p:spPr>
        <p:txBody>
          <a:bodyPr wrap="square">
            <a:spAutoFit/>
          </a:bodyPr>
          <a:lstStyle/>
          <a:p>
            <a:r>
              <a:rPr lang="en-US" sz="2000" dirty="0"/>
              <a:t>INTRODUCTION TO LUNG CANCER</a:t>
            </a:r>
          </a:p>
        </p:txBody>
      </p:sp>
      <p:sp>
        <p:nvSpPr>
          <p:cNvPr id="5" name="TextBox 4">
            <a:extLst>
              <a:ext uri="{FF2B5EF4-FFF2-40B4-BE49-F238E27FC236}">
                <a16:creationId xmlns:a16="http://schemas.microsoft.com/office/drawing/2014/main" id="{54165A54-7A15-75E7-FB9A-09424BDDF475}"/>
              </a:ext>
            </a:extLst>
          </p:cNvPr>
          <p:cNvSpPr txBox="1"/>
          <p:nvPr/>
        </p:nvSpPr>
        <p:spPr>
          <a:xfrm>
            <a:off x="4397829" y="478971"/>
            <a:ext cx="4767942" cy="646331"/>
          </a:xfrm>
          <a:prstGeom prst="rect">
            <a:avLst/>
          </a:prstGeom>
          <a:noFill/>
        </p:spPr>
        <p:txBody>
          <a:bodyPr wrap="square">
            <a:spAutoFit/>
          </a:bodyPr>
          <a:lstStyle/>
          <a:p>
            <a:r>
              <a:rPr lang="en-US" sz="3600" dirty="0"/>
              <a:t>CHAPTER-1</a:t>
            </a:r>
          </a:p>
        </p:txBody>
      </p:sp>
      <p:sp>
        <p:nvSpPr>
          <p:cNvPr id="11" name="TextBox 10">
            <a:extLst>
              <a:ext uri="{FF2B5EF4-FFF2-40B4-BE49-F238E27FC236}">
                <a16:creationId xmlns:a16="http://schemas.microsoft.com/office/drawing/2014/main" id="{612D7AD6-AC2E-818F-E8B9-FA77DE0A96AE}"/>
              </a:ext>
            </a:extLst>
          </p:cNvPr>
          <p:cNvSpPr txBox="1"/>
          <p:nvPr/>
        </p:nvSpPr>
        <p:spPr>
          <a:xfrm>
            <a:off x="411480" y="2206694"/>
            <a:ext cx="3492863" cy="147732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342900" indent="-342900">
              <a:buAutoNum type="arabicPeriod"/>
            </a:pPr>
            <a:r>
              <a:rPr lang="en-US" sz="1800" dirty="0">
                <a:effectLst/>
                <a:latin typeface="Times New Roman" panose="02020603050405020304" pitchFamily="18" charset="0"/>
                <a:ea typeface="Times New Roman" panose="02020603050405020304" pitchFamily="18" charset="0"/>
              </a:rPr>
              <a:t>DEFINITION </a:t>
            </a:r>
          </a:p>
          <a:p>
            <a:r>
              <a:rPr lang="en-US" b="1" dirty="0"/>
              <a:t>2. </a:t>
            </a:r>
            <a:r>
              <a:rPr lang="en-US" dirty="0"/>
              <a:t>CAUSES AND RISK FACTORS </a:t>
            </a:r>
          </a:p>
          <a:p>
            <a:r>
              <a:rPr lang="en-US" b="1" dirty="0"/>
              <a:t>3. </a:t>
            </a:r>
            <a:r>
              <a:rPr lang="en-US" dirty="0"/>
              <a:t>ADVANCEMENTS IN TECHNOLOGY &amp; TREATMENT</a:t>
            </a:r>
          </a:p>
          <a:p>
            <a:r>
              <a:rPr lang="en-US" b="1" dirty="0"/>
              <a:t>4.</a:t>
            </a:r>
            <a:r>
              <a:rPr lang="en-US" dirty="0"/>
              <a:t> CONCLUSION </a:t>
            </a:r>
          </a:p>
        </p:txBody>
      </p:sp>
      <p:pic>
        <p:nvPicPr>
          <p:cNvPr id="14" name="Picture 13">
            <a:extLst>
              <a:ext uri="{FF2B5EF4-FFF2-40B4-BE49-F238E27FC236}">
                <a16:creationId xmlns:a16="http://schemas.microsoft.com/office/drawing/2014/main" id="{48F104B7-1151-BEB1-26F3-D13B8AC8FED3}"/>
              </a:ext>
            </a:extLst>
          </p:cNvPr>
          <p:cNvPicPr>
            <a:picLocks noChangeAspect="1"/>
          </p:cNvPicPr>
          <p:nvPr/>
        </p:nvPicPr>
        <p:blipFill>
          <a:blip r:embed="rId2"/>
          <a:stretch>
            <a:fillRect/>
          </a:stretch>
        </p:blipFill>
        <p:spPr>
          <a:xfrm>
            <a:off x="4282440" y="1866053"/>
            <a:ext cx="5023245" cy="4108027"/>
          </a:xfrm>
          <a:prstGeom prst="rect">
            <a:avLst/>
          </a:prstGeom>
        </p:spPr>
      </p:pic>
    </p:spTree>
    <p:extLst>
      <p:ext uri="{BB962C8B-B14F-4D97-AF65-F5344CB8AC3E}">
        <p14:creationId xmlns:p14="http://schemas.microsoft.com/office/powerpoint/2010/main" val="348802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down)">
                                      <p:cBhvr>
                                        <p:cTn id="7" dur="500"/>
                                        <p:tgtEl>
                                          <p:spTgt spid="11">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wipe(down)">
                                      <p:cBhvr>
                                        <p:cTn id="10" dur="500"/>
                                        <p:tgtEl>
                                          <p:spTgt spid="11">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wipe(down)">
                                      <p:cBhvr>
                                        <p:cTn id="13" dur="500"/>
                                        <p:tgtEl>
                                          <p:spTgt spid="11">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wipe(down)">
                                      <p:cBhvr>
                                        <p:cTn id="16"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499A16-A78D-FDC3-2669-F61A396C5531}"/>
              </a:ext>
            </a:extLst>
          </p:cNvPr>
          <p:cNvSpPr txBox="1"/>
          <p:nvPr/>
        </p:nvSpPr>
        <p:spPr>
          <a:xfrm>
            <a:off x="333829" y="290286"/>
            <a:ext cx="8831942" cy="369332"/>
          </a:xfrm>
          <a:prstGeom prst="rect">
            <a:avLst/>
          </a:prstGeom>
          <a:noFill/>
        </p:spPr>
        <p:txBody>
          <a:bodyPr wrap="square">
            <a:spAutoFit/>
          </a:bodyPr>
          <a:lstStyle/>
          <a:p>
            <a:r>
              <a:rPr lang="en-US" b="1" dirty="0">
                <a:latin typeface="Times New Roman" panose="02020603050405020304" pitchFamily="18" charset="0"/>
                <a:ea typeface="Times New Roman" panose="02020603050405020304" pitchFamily="18" charset="0"/>
              </a:rPr>
              <a:t>1. </a:t>
            </a:r>
            <a:r>
              <a:rPr lang="en-US" sz="1800" dirty="0">
                <a:effectLst/>
                <a:latin typeface="Times New Roman" panose="02020603050405020304" pitchFamily="18" charset="0"/>
                <a:ea typeface="Times New Roman" panose="02020603050405020304" pitchFamily="18" charset="0"/>
              </a:rPr>
              <a:t>DEFINITION </a:t>
            </a:r>
          </a:p>
        </p:txBody>
      </p:sp>
      <p:pic>
        <p:nvPicPr>
          <p:cNvPr id="7" name="Picture 6">
            <a:extLst>
              <a:ext uri="{FF2B5EF4-FFF2-40B4-BE49-F238E27FC236}">
                <a16:creationId xmlns:a16="http://schemas.microsoft.com/office/drawing/2014/main" id="{71AA2F31-446C-5E8E-77B5-2D3527B4814B}"/>
              </a:ext>
            </a:extLst>
          </p:cNvPr>
          <p:cNvPicPr>
            <a:picLocks noChangeAspect="1"/>
          </p:cNvPicPr>
          <p:nvPr/>
        </p:nvPicPr>
        <p:blipFill>
          <a:blip r:embed="rId2"/>
          <a:stretch>
            <a:fillRect/>
          </a:stretch>
        </p:blipFill>
        <p:spPr>
          <a:xfrm>
            <a:off x="508000" y="972457"/>
            <a:ext cx="8612187" cy="5114018"/>
          </a:xfrm>
          <a:prstGeom prst="rect">
            <a:avLst/>
          </a:prstGeom>
        </p:spPr>
      </p:pic>
    </p:spTree>
    <p:extLst>
      <p:ext uri="{BB962C8B-B14F-4D97-AF65-F5344CB8AC3E}">
        <p14:creationId xmlns:p14="http://schemas.microsoft.com/office/powerpoint/2010/main" val="1351441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C4DB98-6D0D-E637-0DCF-9C496609D68A}"/>
              </a:ext>
            </a:extLst>
          </p:cNvPr>
          <p:cNvPicPr>
            <a:picLocks noChangeAspect="1"/>
          </p:cNvPicPr>
          <p:nvPr/>
        </p:nvPicPr>
        <p:blipFill>
          <a:blip r:embed="rId2"/>
          <a:stretch>
            <a:fillRect/>
          </a:stretch>
        </p:blipFill>
        <p:spPr>
          <a:xfrm>
            <a:off x="0" y="-116114"/>
            <a:ext cx="10572664" cy="7547428"/>
          </a:xfrm>
          <a:prstGeom prst="rect">
            <a:avLst/>
          </a:prstGeom>
        </p:spPr>
      </p:pic>
    </p:spTree>
    <p:extLst>
      <p:ext uri="{BB962C8B-B14F-4D97-AF65-F5344CB8AC3E}">
        <p14:creationId xmlns:p14="http://schemas.microsoft.com/office/powerpoint/2010/main" val="849885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39E8C4-70A3-0C4C-D413-3DFDCC16D911}"/>
              </a:ext>
            </a:extLst>
          </p:cNvPr>
          <p:cNvPicPr>
            <a:picLocks noChangeAspect="1"/>
          </p:cNvPicPr>
          <p:nvPr/>
        </p:nvPicPr>
        <p:blipFill>
          <a:blip r:embed="rId2"/>
          <a:stretch>
            <a:fillRect/>
          </a:stretch>
        </p:blipFill>
        <p:spPr>
          <a:xfrm>
            <a:off x="6487885" y="1015999"/>
            <a:ext cx="4064089" cy="4862287"/>
          </a:xfrm>
          <a:prstGeom prst="rect">
            <a:avLst/>
          </a:prstGeom>
        </p:spPr>
      </p:pic>
      <p:sp>
        <p:nvSpPr>
          <p:cNvPr id="5" name="TextBox 4">
            <a:extLst>
              <a:ext uri="{FF2B5EF4-FFF2-40B4-BE49-F238E27FC236}">
                <a16:creationId xmlns:a16="http://schemas.microsoft.com/office/drawing/2014/main" id="{5A1D9598-7C8F-B50A-7C15-4C339C9959E8}"/>
              </a:ext>
            </a:extLst>
          </p:cNvPr>
          <p:cNvSpPr txBox="1"/>
          <p:nvPr/>
        </p:nvSpPr>
        <p:spPr>
          <a:xfrm>
            <a:off x="420915" y="452787"/>
            <a:ext cx="5776686" cy="5299977"/>
          </a:xfrm>
          <a:prstGeom prst="rect">
            <a:avLst/>
          </a:prstGeom>
          <a:noFill/>
        </p:spPr>
        <p:txBody>
          <a:bodyPr wrap="square">
            <a:spAutoFit/>
          </a:bodyPr>
          <a:lstStyle/>
          <a:p>
            <a:pPr marL="0" marR="0" algn="just">
              <a:lnSpc>
                <a:spcPct val="150000"/>
              </a:lnSpc>
              <a:buNone/>
            </a:pPr>
            <a:r>
              <a:rPr lang="en-US" sz="2800" b="1" dirty="0">
                <a:effectLst/>
                <a:latin typeface="Times New Roman" panose="02020603050405020304" pitchFamily="18" charset="0"/>
                <a:ea typeface="Times New Roman" panose="02020603050405020304" pitchFamily="18" charset="0"/>
              </a:rPr>
              <a:t>Overview of Lung Cancer</a:t>
            </a:r>
          </a:p>
          <a:p>
            <a:pPr marL="0" marR="0" algn="just">
              <a:lnSpc>
                <a:spcPct val="150000"/>
              </a:lnSpc>
            </a:pPr>
            <a:r>
              <a:rPr lang="en-US" sz="2000" dirty="0">
                <a:effectLst/>
                <a:latin typeface="Times New Roman" panose="02020603050405020304" pitchFamily="18" charset="0"/>
                <a:ea typeface="Times New Roman" panose="02020603050405020304" pitchFamily="18" charset="0"/>
              </a:rPr>
              <a:t>Lung cancer primarily originates in the cells lining the bronchi and other parts of the lung. There are two main types: non-small cell lung cancer (NSCLC), which accounts for about 85% of all cases, and small cell lung cancer (SCLC), which is more aggressive but less common. NSCLC includes subtypes like adenocarcinoma, squamous cell carcinoma, and large cell carcinoma. SCLC, on the other hand, tends to spread more quickly and is often diagnosed at an advanced stage.</a:t>
            </a:r>
          </a:p>
        </p:txBody>
      </p:sp>
    </p:spTree>
    <p:extLst>
      <p:ext uri="{BB962C8B-B14F-4D97-AF65-F5344CB8AC3E}">
        <p14:creationId xmlns:p14="http://schemas.microsoft.com/office/powerpoint/2010/main" val="822153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123B37-2BC9-C8B1-DD06-97D71CBDE5F6}"/>
              </a:ext>
            </a:extLst>
          </p:cNvPr>
          <p:cNvSpPr txBox="1"/>
          <p:nvPr/>
        </p:nvSpPr>
        <p:spPr>
          <a:xfrm>
            <a:off x="130629" y="203199"/>
            <a:ext cx="4644571" cy="6524350"/>
          </a:xfrm>
          <a:prstGeom prst="rect">
            <a:avLst/>
          </a:prstGeom>
          <a:noFill/>
        </p:spPr>
        <p:txBody>
          <a:bodyPr wrap="square">
            <a:spAutoFit/>
          </a:bodyPr>
          <a:lstStyle/>
          <a:p>
            <a:pPr marL="0" marR="0" algn="just">
              <a:lnSpc>
                <a:spcPct val="150000"/>
              </a:lnSpc>
            </a:pPr>
            <a:r>
              <a:rPr lang="en-US" sz="2800" b="1" dirty="0">
                <a:effectLst/>
                <a:latin typeface="Times New Roman" panose="02020603050405020304" pitchFamily="18" charset="0"/>
                <a:ea typeface="Times New Roman" panose="02020603050405020304" pitchFamily="18" charset="0"/>
              </a:rPr>
              <a:t>2.Causes and Risk Factors</a:t>
            </a:r>
          </a:p>
          <a:p>
            <a:pPr marL="0" marR="0" algn="just">
              <a:lnSpc>
                <a:spcPct val="150000"/>
              </a:lnSpc>
            </a:pPr>
            <a:endParaRPr lang="en-US" sz="2800" b="1" dirty="0">
              <a:effectLst/>
              <a:latin typeface="Times New Roman" panose="02020603050405020304" pitchFamily="18" charset="0"/>
              <a:ea typeface="Times New Roman" panose="02020603050405020304" pitchFamily="18" charset="0"/>
            </a:endParaRPr>
          </a:p>
          <a:p>
            <a:pPr algn="just">
              <a:lnSpc>
                <a:spcPct val="150000"/>
              </a:lnSpc>
            </a:pPr>
            <a:r>
              <a:rPr lang="en-US" dirty="0"/>
              <a:t>The primary cause of lung cancer is smoking, responsible for nearly 85% of all cases. However, non-smokers are also at risk due to factors like air pollution, genetic mutations, and exposure to harmful chemicals such as asbestos and radon. Early detection is crucial, as it dramatically improves survival rates, but this is often difficult because symptoms can remain hidden until the disease reaches an advanced stage.</a:t>
            </a:r>
          </a:p>
          <a:p>
            <a:pPr marL="0" marR="0" algn="just">
              <a:lnSpc>
                <a:spcPct val="150000"/>
              </a:lnSpc>
            </a:pPr>
            <a:endParaRPr lang="en-US" sz="28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74AA61F5-E0D9-3A0F-5052-5556E5F18B8A}"/>
              </a:ext>
            </a:extLst>
          </p:cNvPr>
          <p:cNvPicPr>
            <a:picLocks noChangeAspect="1"/>
          </p:cNvPicPr>
          <p:nvPr/>
        </p:nvPicPr>
        <p:blipFill>
          <a:blip r:embed="rId3"/>
          <a:stretch>
            <a:fillRect/>
          </a:stretch>
        </p:blipFill>
        <p:spPr>
          <a:xfrm>
            <a:off x="5130184" y="0"/>
            <a:ext cx="7061815" cy="6857999"/>
          </a:xfrm>
          <a:prstGeom prst="rect">
            <a:avLst/>
          </a:prstGeom>
        </p:spPr>
      </p:pic>
    </p:spTree>
    <p:extLst>
      <p:ext uri="{BB962C8B-B14F-4D97-AF65-F5344CB8AC3E}">
        <p14:creationId xmlns:p14="http://schemas.microsoft.com/office/powerpoint/2010/main" val="362959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75BEFB-8290-8D0C-5684-775D580CA5F7}"/>
              </a:ext>
            </a:extLst>
          </p:cNvPr>
          <p:cNvPicPr>
            <a:picLocks noChangeAspect="1"/>
          </p:cNvPicPr>
          <p:nvPr/>
        </p:nvPicPr>
        <p:blipFill>
          <a:blip r:embed="rId2"/>
          <a:stretch>
            <a:fillRect/>
          </a:stretch>
        </p:blipFill>
        <p:spPr>
          <a:xfrm>
            <a:off x="6371771" y="174171"/>
            <a:ext cx="5820228" cy="6683828"/>
          </a:xfrm>
          <a:prstGeom prst="rect">
            <a:avLst/>
          </a:prstGeom>
        </p:spPr>
      </p:pic>
      <p:sp>
        <p:nvSpPr>
          <p:cNvPr id="5" name="TextBox 4">
            <a:extLst>
              <a:ext uri="{FF2B5EF4-FFF2-40B4-BE49-F238E27FC236}">
                <a16:creationId xmlns:a16="http://schemas.microsoft.com/office/drawing/2014/main" id="{40B70AC6-A9EF-0E13-8D07-19955249BFAE}"/>
              </a:ext>
            </a:extLst>
          </p:cNvPr>
          <p:cNvSpPr txBox="1"/>
          <p:nvPr/>
        </p:nvSpPr>
        <p:spPr>
          <a:xfrm>
            <a:off x="304799" y="174171"/>
            <a:ext cx="5950857" cy="6690550"/>
          </a:xfrm>
          <a:prstGeom prst="rect">
            <a:avLst/>
          </a:prstGeom>
          <a:noFill/>
        </p:spPr>
        <p:txBody>
          <a:bodyPr wrap="square">
            <a:spAutoFit/>
          </a:bodyPr>
          <a:lstStyle/>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Lung cancer is one of the most serious and widespread forms of cancer, accounting for a significant portion of global cancer-related deaths. It arises from the uncontrolled growth of abnormal cells in the lung tissues, which can spread to other parts of the body if left untreated. Despite major advancements in cancer research, lung cancer remains a critical challenge due to its aggressive nature, late-stage diagnosis, and complex treatment options.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One of the biggest challenges in lung cancer treatment is early detection. Most lung cancers are diagnosed at an advanced stage, when the prognosis is poor. This is partly due to the lungs' large size and capacity to compensate for impaired function, which allows tumors to grow undetected for months or even years. Additionally, the lack of effective screening programs in many countries further complicates early diagnosis.</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3858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226757-C092-C123-B5EC-10106BE51B98}"/>
              </a:ext>
            </a:extLst>
          </p:cNvPr>
          <p:cNvSpPr txBox="1"/>
          <p:nvPr/>
        </p:nvSpPr>
        <p:spPr>
          <a:xfrm>
            <a:off x="0" y="0"/>
            <a:ext cx="6299201" cy="6950942"/>
          </a:xfrm>
          <a:prstGeom prst="rect">
            <a:avLst/>
          </a:prstGeom>
          <a:noFill/>
        </p:spPr>
        <p:txBody>
          <a:bodyPr wrap="square">
            <a:spAutoFit/>
          </a:bodyPr>
          <a:lstStyle/>
          <a:p>
            <a:pPr marL="0" marR="0" algn="just">
              <a:lnSpc>
                <a:spcPct val="150000"/>
              </a:lnSpc>
            </a:pPr>
            <a:r>
              <a:rPr lang="en-US" sz="2400" b="1" dirty="0">
                <a:effectLst/>
                <a:latin typeface="Times New Roman" panose="02020603050405020304" pitchFamily="18" charset="0"/>
                <a:ea typeface="Times New Roman" panose="02020603050405020304" pitchFamily="18" charset="0"/>
              </a:rPr>
              <a:t>3.Advancements in Technology and Treatment</a:t>
            </a:r>
          </a:p>
          <a:p>
            <a:r>
              <a:rPr lang="en-US" dirty="0"/>
              <a:t>Given the high mortality rate of lung cancer, prevention and early detection are critical. Public health campaigns focusing on smoking cessation, reducing exposure to air pollution, and promoting regular health check-ups can significantly reduce the incidence of lung cancer. Additionally, raising awareness about early symptoms and risk factors can encourage at-risk populations to seek medical advice sooner, potentially improving survival rates.</a:t>
            </a:r>
          </a:p>
          <a:p>
            <a:r>
              <a:rPr lang="en-US" b="1" dirty="0"/>
              <a:t>Symptoms</a:t>
            </a:r>
            <a:endParaRPr lang="en-US" dirty="0"/>
          </a:p>
          <a:p>
            <a:r>
              <a:rPr lang="en-US" dirty="0"/>
              <a:t>Common symptoms of lung cancer include:</a:t>
            </a:r>
          </a:p>
          <a:p>
            <a:r>
              <a:rPr lang="en-US" dirty="0"/>
              <a:t>1. Persistent Coughing: A cough that doesn't go away or gets worse over time.</a:t>
            </a:r>
          </a:p>
          <a:p>
            <a:r>
              <a:rPr lang="en-US" dirty="0"/>
              <a:t>2. Chest Pain or Discomfort: Pain or discomfort in the chest, shoulder, or back.</a:t>
            </a:r>
          </a:p>
          <a:p>
            <a:r>
              <a:rPr lang="en-US" dirty="0"/>
              <a:t>3. Coughing up Blood or Rust-Colored Mucus: Coughing up blood or rust-colored mucus can be a sign of lung cancer.</a:t>
            </a:r>
          </a:p>
          <a:p>
            <a:r>
              <a:rPr lang="en-US" dirty="0"/>
              <a:t>4. Shortness of Breath: Feeling short of breath or experiencing wheezing.</a:t>
            </a:r>
          </a:p>
          <a:p>
            <a:r>
              <a:rPr lang="en-US" dirty="0"/>
              <a:t>5. Fatigue: Feeling tired or weak.</a:t>
            </a:r>
          </a:p>
          <a:p>
            <a:r>
              <a:rPr lang="en-US" dirty="0"/>
              <a:t>6. Weight Loss: Unexplained weight loss.</a:t>
            </a:r>
          </a:p>
          <a:p>
            <a:pPr marL="0" marR="0" algn="just">
              <a:lnSpc>
                <a:spcPct val="150000"/>
              </a:lnSpc>
            </a:pPr>
            <a:endParaRPr lang="en-US" sz="24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ADE7A5B-C9E0-2D4F-3D64-290BEB35D8A1}"/>
              </a:ext>
            </a:extLst>
          </p:cNvPr>
          <p:cNvPicPr>
            <a:picLocks noChangeAspect="1"/>
          </p:cNvPicPr>
          <p:nvPr/>
        </p:nvPicPr>
        <p:blipFill>
          <a:blip r:embed="rId2"/>
          <a:stretch>
            <a:fillRect/>
          </a:stretch>
        </p:blipFill>
        <p:spPr>
          <a:xfrm>
            <a:off x="6444342" y="0"/>
            <a:ext cx="6444343" cy="6857999"/>
          </a:xfrm>
          <a:prstGeom prst="rect">
            <a:avLst/>
          </a:prstGeom>
        </p:spPr>
      </p:pic>
    </p:spTree>
    <p:extLst>
      <p:ext uri="{BB962C8B-B14F-4D97-AF65-F5344CB8AC3E}">
        <p14:creationId xmlns:p14="http://schemas.microsoft.com/office/powerpoint/2010/main" val="3319448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B8A134-3F5B-7E2D-1B4A-B379E9608220}"/>
              </a:ext>
            </a:extLst>
          </p:cNvPr>
          <p:cNvPicPr>
            <a:picLocks noChangeAspect="1"/>
          </p:cNvPicPr>
          <p:nvPr/>
        </p:nvPicPr>
        <p:blipFill>
          <a:blip r:embed="rId2"/>
          <a:stretch>
            <a:fillRect/>
          </a:stretch>
        </p:blipFill>
        <p:spPr>
          <a:xfrm>
            <a:off x="7678056" y="0"/>
            <a:ext cx="4513943" cy="6858000"/>
          </a:xfrm>
          <a:prstGeom prst="rect">
            <a:avLst/>
          </a:prstGeom>
        </p:spPr>
      </p:pic>
      <p:sp>
        <p:nvSpPr>
          <p:cNvPr id="5" name="TextBox 4">
            <a:extLst>
              <a:ext uri="{FF2B5EF4-FFF2-40B4-BE49-F238E27FC236}">
                <a16:creationId xmlns:a16="http://schemas.microsoft.com/office/drawing/2014/main" id="{25E06DE4-E63A-6764-0C5A-D2242ACA5FC7}"/>
              </a:ext>
            </a:extLst>
          </p:cNvPr>
          <p:cNvSpPr txBox="1"/>
          <p:nvPr/>
        </p:nvSpPr>
        <p:spPr>
          <a:xfrm>
            <a:off x="1" y="0"/>
            <a:ext cx="7678056" cy="7106048"/>
          </a:xfrm>
          <a:prstGeom prst="rect">
            <a:avLst/>
          </a:prstGeom>
          <a:noFill/>
        </p:spPr>
        <p:txBody>
          <a:bodyPr wrap="square">
            <a:spAutoFit/>
          </a:bodyPr>
          <a:lstStyle/>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 Diagnosis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Diagnosing lung cancer typically involves: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1. Imaging Tests: X-rays, CT scans, MRI scans, or PET scans can help detect tumors.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2. Biopsies: A biopsy involves removing a sample of tissue from the lungs for examination.</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 Treatment Options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Treatment options for lung cancer depend on the stage and type of cancer, as well as overall health. Options may include:</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1. Surgery: Surgery can be used to remove tumors or affected lung tissue.</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2. Chemotherapy: Chemotherapy uses medications to kill cancer cells.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3. Radiation Therapy: Radiation therapy uses high-energy rays to kill cancer cells.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4. Targeted Therapy: Targeted therapy uses medications that target specific cancer cells.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5. Immunotherapy: Immunotherapy uses medications that stimulate the immune system to fight cancer.</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3501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AF915C-4C28-C6CE-124F-2B62D76C7A57}"/>
              </a:ext>
            </a:extLst>
          </p:cNvPr>
          <p:cNvPicPr>
            <a:picLocks noChangeAspect="1"/>
          </p:cNvPicPr>
          <p:nvPr/>
        </p:nvPicPr>
        <p:blipFill>
          <a:blip r:embed="rId2"/>
          <a:srcRect t="32794"/>
          <a:stretch>
            <a:fillRect/>
          </a:stretch>
        </p:blipFill>
        <p:spPr>
          <a:xfrm>
            <a:off x="6373504" y="0"/>
            <a:ext cx="5936777" cy="6858000"/>
          </a:xfrm>
          <a:prstGeom prst="rect">
            <a:avLst/>
          </a:prstGeom>
        </p:spPr>
      </p:pic>
      <p:sp>
        <p:nvSpPr>
          <p:cNvPr id="5" name="TextBox 4">
            <a:extLst>
              <a:ext uri="{FF2B5EF4-FFF2-40B4-BE49-F238E27FC236}">
                <a16:creationId xmlns:a16="http://schemas.microsoft.com/office/drawing/2014/main" id="{64FF7161-5406-032E-07C5-89F876DA7BB4}"/>
              </a:ext>
            </a:extLst>
          </p:cNvPr>
          <p:cNvSpPr txBox="1"/>
          <p:nvPr/>
        </p:nvSpPr>
        <p:spPr>
          <a:xfrm>
            <a:off x="614149" y="259308"/>
            <a:ext cx="5759355" cy="4105226"/>
          </a:xfrm>
          <a:prstGeom prst="rect">
            <a:avLst/>
          </a:prstGeom>
          <a:noFill/>
        </p:spPr>
        <p:txBody>
          <a:bodyPr wrap="square">
            <a:spAutoFit/>
          </a:bodyPr>
          <a:lstStyle/>
          <a:p>
            <a:pPr marL="0" marR="0" algn="just">
              <a:lnSpc>
                <a:spcPct val="150000"/>
              </a:lnSpc>
              <a:buNone/>
            </a:pPr>
            <a:r>
              <a:rPr lang="en-US" sz="3200" b="1" dirty="0">
                <a:effectLst/>
                <a:latin typeface="Times New Roman" panose="02020603050405020304" pitchFamily="18" charset="0"/>
                <a:ea typeface="Times New Roman" panose="02020603050405020304" pitchFamily="18" charset="0"/>
              </a:rPr>
              <a:t>Prevention</a:t>
            </a:r>
            <a:endParaRPr lang="en-US" sz="28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Preventing lung cancer involves: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1. Quitting Smoking: Quitting smoking can significantly reduce the risk of lung cancer.</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2. Avoiding Exposure to Carcinogens: Avoiding exposure to radon, asbestos, and other carcinogens can reduce the risk.</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3. Maintaining a Healthy Lifestyle: Eating a healthy diet, exercising regularly, and maintaining a healthy weight can help reduce the risk.</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50928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C8FF0A-F50B-1F58-43B9-DBCD09C933A5}"/>
              </a:ext>
            </a:extLst>
          </p:cNvPr>
          <p:cNvSpPr txBox="1"/>
          <p:nvPr/>
        </p:nvSpPr>
        <p:spPr>
          <a:xfrm>
            <a:off x="-1" y="136478"/>
            <a:ext cx="11518711" cy="6690550"/>
          </a:xfrm>
          <a:prstGeom prst="rect">
            <a:avLst/>
          </a:prstGeom>
          <a:noFill/>
        </p:spPr>
        <p:txBody>
          <a:bodyPr wrap="square">
            <a:spAutoFit/>
          </a:bodyPr>
          <a:lstStyle/>
          <a:p>
            <a:pPr marL="0" marR="0" algn="just">
              <a:lnSpc>
                <a:spcPct val="150000"/>
              </a:lnSpc>
              <a:buNone/>
            </a:pPr>
            <a:r>
              <a:rPr lang="en-US" sz="1800" b="1" u="sng" dirty="0">
                <a:effectLst/>
                <a:latin typeface="Times New Roman" panose="02020603050405020304" pitchFamily="18" charset="0"/>
                <a:ea typeface="Times New Roman" panose="02020603050405020304" pitchFamily="18" charset="0"/>
              </a:rPr>
              <a:t>4.Conclusion</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In summary, lung cancer is a complex and challenging disease with high mortality rates, primarily due to its aggressive nature and late-stage diagnosis. However, advancements in technology, personalized medicine, and early detection hold promise for improving patient outcomes. Continued research, public awareness, and early screening programs are essential in the global fight against lung cancer.</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Using the patient's various cardiac characteristics and the R language approach of logistic regression on a publicly accessible dataset from Kaggle, we developed and examined models for predicting lung cancer disease in this project.</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This study aims to establish the most significant heart disease risk factors and estimate the overall risk using logistic regression.</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To overcome difficulties with classification, we employ logistic regression. Instead of using linear regression, which denotes continuous progress, it does this by forecasting categorical outcomes. An example of a binomial, which has two possible results in the most straightforward instance, is the prediction of heart disease, which has been steadily rising in prevalence worldwide. The primary goal of developing this approach was to forecast the likelihood of developing heart disease ten years from now. The Kaggle dataset, which has 800 observations, forecasts the likelihood that a patient in a specific location will develop heart disease. In this study, we used R software to predict heart disease using the patient data provided. </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59125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AFF2D7-8DDC-7BDD-3AF8-B732CB3F2168}"/>
              </a:ext>
            </a:extLst>
          </p:cNvPr>
          <p:cNvSpPr txBox="1"/>
          <p:nvPr/>
        </p:nvSpPr>
        <p:spPr>
          <a:xfrm>
            <a:off x="396240" y="116114"/>
            <a:ext cx="8769531" cy="6926896"/>
          </a:xfrm>
          <a:prstGeom prst="rect">
            <a:avLst/>
          </a:prstGeom>
          <a:noFill/>
        </p:spPr>
        <p:txBody>
          <a:bodyPr wrap="square">
            <a:spAutoFit/>
          </a:bodyPr>
          <a:lstStyle/>
          <a:p>
            <a:pPr marL="0" marR="0" algn="ctr">
              <a:lnSpc>
                <a:spcPct val="150000"/>
              </a:lnSpc>
              <a:buNone/>
            </a:pPr>
            <a:r>
              <a:rPr lang="en-US" sz="1800" b="1" dirty="0">
                <a:effectLst/>
                <a:latin typeface="Times New Roman" panose="02020603050405020304" pitchFamily="18" charset="0"/>
                <a:ea typeface="Times New Roman" panose="02020603050405020304" pitchFamily="18" charset="0"/>
              </a:rPr>
              <a:t>CHAPTER-2</a:t>
            </a:r>
            <a:endParaRPr lang="en-US" sz="1600" dirty="0">
              <a:effectLst/>
              <a:latin typeface="Times New Roman" panose="02020603050405020304" pitchFamily="18" charset="0"/>
              <a:ea typeface="Times New Roman" panose="02020603050405020304" pitchFamily="18" charset="0"/>
            </a:endParaRPr>
          </a:p>
          <a:p>
            <a:pPr marL="0" marR="179705" algn="ctr">
              <a:lnSpc>
                <a:spcPct val="150000"/>
              </a:lnSpc>
            </a:pPr>
            <a:r>
              <a:rPr lang="en-US" sz="1800" b="1" dirty="0">
                <a:effectLst/>
                <a:latin typeface="Times New Roman" panose="02020603050405020304" pitchFamily="18" charset="0"/>
                <a:ea typeface="Times New Roman" panose="02020603050405020304" pitchFamily="18" charset="0"/>
              </a:rPr>
              <a:t>METHODOLOGY</a:t>
            </a:r>
          </a:p>
          <a:p>
            <a:pPr marR="179705" algn="ctr">
              <a:lnSpc>
                <a:spcPct val="150000"/>
              </a:lnSpc>
            </a:pPr>
            <a:r>
              <a:rPr lang="en-US" dirty="0"/>
              <a:t>1.STUDY DESIGN   </a:t>
            </a:r>
          </a:p>
          <a:p>
            <a:pPr marR="179705" algn="ctr">
              <a:lnSpc>
                <a:spcPct val="150000"/>
              </a:lnSpc>
            </a:pPr>
            <a:r>
              <a:rPr lang="en-US" b="1" dirty="0"/>
              <a:t>2</a:t>
            </a:r>
            <a:r>
              <a:rPr lang="en-US" dirty="0"/>
              <a:t>. LOGISTIC REGRESSION                    </a:t>
            </a:r>
          </a:p>
          <a:p>
            <a:r>
              <a:rPr lang="en-US" b="1" u="sng" dirty="0"/>
              <a:t>1. Study Design</a:t>
            </a:r>
            <a:endParaRPr lang="en-US" dirty="0"/>
          </a:p>
          <a:p>
            <a:r>
              <a:rPr lang="en-US" dirty="0"/>
              <a:t>The study adopts a quantitative, observational research design to develop a predictive model for lung cancer diagnosis using logistic regression, implemented in the R programming language. Logistic regression is a well-established statistical method ideally suited for binary classification tasks, such as predicting the presence or absence of lung cancer (1 = cancer, 0 = no cancer). Its strengths include interpretability, computational efficiency, and the ability to model relationships between a binary outcome and multiple predictor variables, making it a preferred choice in medical research.</a:t>
            </a:r>
          </a:p>
          <a:p>
            <a:r>
              <a:rPr lang="en-US" dirty="0"/>
              <a:t>The observational nature of the study leverages secondary data from a publicly available dataset or clinical database, ensuring ethical data collection and accessibility for research purposes. This approach eliminates the need for primary data collection, reducing time and resource constraints while maintaining data quality. The data is processed, analyzed, and modeled using R, a powerful open-source statistical computing environment widely used for data analysis, visualization, and machine learning. </a:t>
            </a:r>
          </a:p>
          <a:p>
            <a:pPr marR="179705" algn="ctr">
              <a:lnSpc>
                <a:spcPct val="150000"/>
              </a:lnSpc>
            </a:pPr>
            <a:r>
              <a:rPr lang="en-US" dirty="0"/>
              <a:t>                                                                                     </a:t>
            </a:r>
          </a:p>
          <a:p>
            <a:pPr marL="0" marR="179705" algn="ctr">
              <a:lnSpc>
                <a:spcPct val="150000"/>
              </a:lnSpc>
            </a:pP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83113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09B319-8159-16EC-8D67-4ECCEB8375C8}"/>
              </a:ext>
            </a:extLst>
          </p:cNvPr>
          <p:cNvSpPr txBox="1"/>
          <p:nvPr/>
        </p:nvSpPr>
        <p:spPr>
          <a:xfrm>
            <a:off x="121921" y="141683"/>
            <a:ext cx="6934199" cy="2862322"/>
          </a:xfrm>
          <a:prstGeom prst="rect">
            <a:avLst/>
          </a:prstGeom>
          <a:noFill/>
        </p:spPr>
        <p:txBody>
          <a:bodyPr wrap="square">
            <a:spAutoFit/>
          </a:bodyPr>
          <a:lstStyle/>
          <a:p>
            <a:r>
              <a:rPr lang="en-US" b="1" dirty="0"/>
              <a:t>2</a:t>
            </a:r>
            <a:r>
              <a:rPr lang="en-US" dirty="0"/>
              <a:t>. </a:t>
            </a:r>
            <a:r>
              <a:rPr lang="en-US" b="1" dirty="0"/>
              <a:t>LOGISTIC REGRESSION </a:t>
            </a:r>
          </a:p>
          <a:p>
            <a:r>
              <a:rPr lang="en-US" dirty="0"/>
              <a:t>Logistic regression ( also known as </a:t>
            </a:r>
            <a:r>
              <a:rPr lang="en-US" b="1" dirty="0"/>
              <a:t>Binomial logistics regression</a:t>
            </a:r>
            <a:r>
              <a:rPr lang="en-US" dirty="0"/>
              <a:t>) in R programming is a classification algorithm used to find the probability of event success and event failure. It is used when the dependent variable is binary (0/1, True/False, Yes/No) in nature.</a:t>
            </a:r>
          </a:p>
          <a:p>
            <a:r>
              <a:rPr lang="en-US" dirty="0"/>
              <a:t>we use the sigmoid function where the input will be z and we find the probability between 0 and 1. i.e. predicted y.</a:t>
            </a:r>
          </a:p>
          <a:p>
            <a:endParaRPr lang="en-US" dirty="0"/>
          </a:p>
          <a:p>
            <a:endParaRPr lang="en-US" dirty="0"/>
          </a:p>
        </p:txBody>
      </p:sp>
      <p:pic>
        <p:nvPicPr>
          <p:cNvPr id="5" name="Picture 4">
            <a:extLst>
              <a:ext uri="{FF2B5EF4-FFF2-40B4-BE49-F238E27FC236}">
                <a16:creationId xmlns:a16="http://schemas.microsoft.com/office/drawing/2014/main" id="{07043C61-EBE4-038C-9125-2C444E4AC40E}"/>
              </a:ext>
            </a:extLst>
          </p:cNvPr>
          <p:cNvPicPr>
            <a:picLocks noChangeAspect="1"/>
          </p:cNvPicPr>
          <p:nvPr/>
        </p:nvPicPr>
        <p:blipFill>
          <a:blip r:embed="rId2"/>
          <a:stretch>
            <a:fillRect/>
          </a:stretch>
        </p:blipFill>
        <p:spPr>
          <a:xfrm>
            <a:off x="7254239" y="0"/>
            <a:ext cx="4937761" cy="4815841"/>
          </a:xfrm>
          <a:prstGeom prst="rect">
            <a:avLst/>
          </a:prstGeom>
        </p:spPr>
      </p:pic>
      <p:sp>
        <p:nvSpPr>
          <p:cNvPr id="24" name="Rectangle 31">
            <a:extLst>
              <a:ext uri="{FF2B5EF4-FFF2-40B4-BE49-F238E27FC236}">
                <a16:creationId xmlns:a16="http://schemas.microsoft.com/office/drawing/2014/main" id="{1F6153AE-0541-7D52-24F4-60F428ED28F0}"/>
              </a:ext>
            </a:extLst>
          </p:cNvPr>
          <p:cNvSpPr>
            <a:spLocks noChangeArrowheads="1"/>
          </p:cNvSpPr>
          <p:nvPr/>
        </p:nvSpPr>
        <p:spPr bwMode="auto">
          <a:xfrm>
            <a:off x="1455420" y="277540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σ(z)=</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246" name="Picture 30">
            <a:extLst>
              <a:ext uri="{FF2B5EF4-FFF2-40B4-BE49-F238E27FC236}">
                <a16:creationId xmlns:a16="http://schemas.microsoft.com/office/drawing/2014/main" id="{DEF2CEC1-0841-3911-F0E8-40A5313F9E2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09800" y="2499366"/>
            <a:ext cx="1493520" cy="59989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2">
            <a:extLst>
              <a:ext uri="{FF2B5EF4-FFF2-40B4-BE49-F238E27FC236}">
                <a16:creationId xmlns:a16="http://schemas.microsoft.com/office/drawing/2014/main" id="{A82455E0-05FE-F41F-4E54-CE0E7CF302F9}"/>
              </a:ext>
            </a:extLst>
          </p:cNvPr>
          <p:cNvSpPr>
            <a:spLocks noChangeArrowheads="1"/>
          </p:cNvSpPr>
          <p:nvPr/>
        </p:nvSpPr>
        <p:spPr bwMode="auto">
          <a:xfrm>
            <a:off x="1059180" y="31659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7" name="TextBox 26">
            <a:extLst>
              <a:ext uri="{FF2B5EF4-FFF2-40B4-BE49-F238E27FC236}">
                <a16:creationId xmlns:a16="http://schemas.microsoft.com/office/drawing/2014/main" id="{A9210E62-8851-DDAE-A3AA-237DEDCD166B}"/>
              </a:ext>
            </a:extLst>
          </p:cNvPr>
          <p:cNvSpPr txBox="1"/>
          <p:nvPr/>
        </p:nvSpPr>
        <p:spPr>
          <a:xfrm>
            <a:off x="281940" y="3327856"/>
            <a:ext cx="7970520" cy="3000821"/>
          </a:xfrm>
          <a:prstGeom prst="rect">
            <a:avLst/>
          </a:prstGeom>
          <a:noFill/>
        </p:spPr>
        <p:txBody>
          <a:bodyPr wrap="square">
            <a:spAutoFit/>
          </a:bodyPr>
          <a:lstStyle/>
          <a:p>
            <a:pPr marL="342900" marR="0" lvl="0" indent="-342900" algn="just">
              <a:lnSpc>
                <a:spcPct val="150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rPr>
              <a:t>σ(z)    tends towards 1 as </a:t>
            </a:r>
            <a:r>
              <a:rPr lang="en-US" sz="1800" i="1" dirty="0">
                <a:effectLst/>
                <a:latin typeface="Times New Roman" panose="02020603050405020304" pitchFamily="18" charset="0"/>
                <a:ea typeface="Times New Roman" panose="02020603050405020304" pitchFamily="18" charset="0"/>
              </a:rPr>
              <a:t>z</a:t>
            </a:r>
            <a:r>
              <a:rPr lang="en-US"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σ</a:t>
            </a:r>
            <a:r>
              <a:rPr lang="en-US" sz="1800" dirty="0">
                <a:effectLst/>
                <a:latin typeface="Times New Roman" panose="02020603050405020304" pitchFamily="18" charset="0"/>
                <a:ea typeface="Times New Roman" panose="02020603050405020304" pitchFamily="18" charset="0"/>
              </a:rPr>
              <a:t>(</a:t>
            </a:r>
            <a:r>
              <a:rPr lang="en-US" sz="1800" i="1" dirty="0">
                <a:effectLst/>
                <a:latin typeface="Times New Roman" panose="02020603050405020304" pitchFamily="18" charset="0"/>
                <a:ea typeface="Times New Roman" panose="02020603050405020304" pitchFamily="18" charset="0"/>
              </a:rPr>
              <a:t>z</a:t>
            </a:r>
            <a:r>
              <a:rPr lang="en-US" sz="1800" dirty="0">
                <a:effectLst/>
                <a:latin typeface="Times New Roman" panose="02020603050405020304" pitchFamily="18" charset="0"/>
                <a:ea typeface="Times New Roman" panose="02020603050405020304" pitchFamily="18" charset="0"/>
              </a:rPr>
              <a:t>)  tends towards 0 as </a:t>
            </a:r>
            <a:r>
              <a:rPr lang="en-US" sz="1800" i="1" dirty="0">
                <a:effectLst/>
                <a:latin typeface="Times New Roman" panose="02020603050405020304" pitchFamily="18" charset="0"/>
                <a:ea typeface="Times New Roman" panose="02020603050405020304" pitchFamily="18" charset="0"/>
              </a:rPr>
              <a:t>z</a:t>
            </a:r>
            <a:r>
              <a:rPr lang="en-US"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σ</a:t>
            </a:r>
            <a:r>
              <a:rPr lang="en-US" sz="1800" dirty="0">
                <a:effectLst/>
                <a:latin typeface="Times New Roman" panose="02020603050405020304" pitchFamily="18" charset="0"/>
                <a:ea typeface="Times New Roman" panose="02020603050405020304" pitchFamily="18" charset="0"/>
              </a:rPr>
              <a:t>(</a:t>
            </a:r>
            <a:r>
              <a:rPr lang="en-US" sz="1800" i="1" dirty="0">
                <a:effectLst/>
                <a:latin typeface="Times New Roman" panose="02020603050405020304" pitchFamily="18" charset="0"/>
                <a:ea typeface="Times New Roman" panose="02020603050405020304" pitchFamily="18" charset="0"/>
              </a:rPr>
              <a:t>z</a:t>
            </a:r>
            <a:r>
              <a:rPr lang="en-US" sz="1800" dirty="0">
                <a:effectLst/>
                <a:latin typeface="Times New Roman" panose="02020603050405020304" pitchFamily="18" charset="0"/>
                <a:ea typeface="Times New Roman" panose="02020603050405020304" pitchFamily="18" charset="0"/>
              </a:rPr>
              <a:t>)  is always bounded between 0 and 1</a:t>
            </a:r>
          </a:p>
          <a:p>
            <a:pPr lvl="0"/>
            <a:r>
              <a:rPr lang="en-US" dirty="0"/>
              <a:t>An OR of </a:t>
            </a:r>
            <a:r>
              <a:rPr lang="en-US" b="1" dirty="0"/>
              <a:t>1</a:t>
            </a:r>
            <a:r>
              <a:rPr lang="en-US" dirty="0"/>
              <a:t> indicates equal probability of success and failure.</a:t>
            </a:r>
          </a:p>
          <a:p>
            <a:pPr lvl="0"/>
            <a:r>
              <a:rPr lang="en-US" dirty="0"/>
              <a:t>An OR of </a:t>
            </a:r>
            <a:r>
              <a:rPr lang="en-US" b="1" dirty="0"/>
              <a:t>2</a:t>
            </a:r>
            <a:r>
              <a:rPr lang="en-US" dirty="0"/>
              <a:t> means success is twice as likely as failure.</a:t>
            </a:r>
          </a:p>
          <a:p>
            <a:r>
              <a:rPr lang="en-US" dirty="0"/>
              <a:t>An OR of </a:t>
            </a:r>
            <a:r>
              <a:rPr lang="en-US" b="1" dirty="0"/>
              <a:t>0.5</a:t>
            </a:r>
            <a:r>
              <a:rPr lang="en-US" dirty="0"/>
              <a:t> implies failure is twice as likely as success.</a:t>
            </a:r>
          </a:p>
          <a:p>
            <a:br>
              <a:rPr lang="en-US" dirty="0"/>
            </a:br>
            <a:endParaRPr lang="en-US" sz="1600" dirty="0">
              <a:effectLst/>
              <a:latin typeface="Times New Roman" panose="02020603050405020304" pitchFamily="18" charset="0"/>
              <a:ea typeface="Times New Roman" panose="02020603050405020304" pitchFamily="18" charset="0"/>
            </a:endParaRPr>
          </a:p>
        </p:txBody>
      </p:sp>
      <p:sp>
        <p:nvSpPr>
          <p:cNvPr id="32" name="Rectangle 40">
            <a:extLst>
              <a:ext uri="{FF2B5EF4-FFF2-40B4-BE49-F238E27FC236}">
                <a16:creationId xmlns:a16="http://schemas.microsoft.com/office/drawing/2014/main" id="{5602B306-8352-903A-FA19-D33F393AE734}"/>
              </a:ext>
            </a:extLst>
          </p:cNvPr>
          <p:cNvSpPr>
            <a:spLocks noChangeArrowheads="1"/>
          </p:cNvSpPr>
          <p:nvPr/>
        </p:nvSpPr>
        <p:spPr bwMode="auto">
          <a:xfrm>
            <a:off x="53340" y="38764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255" name="Picture 1" descr="Lightbox">
            <a:extLst>
              <a:ext uri="{FF2B5EF4-FFF2-40B4-BE49-F238E27FC236}">
                <a16:creationId xmlns:a16="http://schemas.microsoft.com/office/drawing/2014/main" id="{2247A65F-5830-3006-13FE-2015BB2CE22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2320" y="5730240"/>
            <a:ext cx="952500" cy="1147299"/>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41">
            <a:extLst>
              <a:ext uri="{FF2B5EF4-FFF2-40B4-BE49-F238E27FC236}">
                <a16:creationId xmlns:a16="http://schemas.microsoft.com/office/drawing/2014/main" id="{658A1C4A-3C93-9080-4A13-FD68F956FA14}"/>
              </a:ext>
            </a:extLst>
          </p:cNvPr>
          <p:cNvSpPr>
            <a:spLocks noChangeArrowheads="1"/>
          </p:cNvSpPr>
          <p:nvPr/>
        </p:nvSpPr>
        <p:spPr bwMode="auto">
          <a:xfrm>
            <a:off x="281940" y="15306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81342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C700EA-F717-A3C2-6B7B-24C3EB7B57B2}"/>
              </a:ext>
            </a:extLst>
          </p:cNvPr>
          <p:cNvPicPr>
            <a:picLocks noChangeAspect="1"/>
          </p:cNvPicPr>
          <p:nvPr/>
        </p:nvPicPr>
        <p:blipFill>
          <a:blip r:embed="rId2"/>
          <a:stretch>
            <a:fillRect/>
          </a:stretch>
        </p:blipFill>
        <p:spPr>
          <a:xfrm>
            <a:off x="6781800" y="198120"/>
            <a:ext cx="5410200" cy="6461760"/>
          </a:xfrm>
          <a:prstGeom prst="rect">
            <a:avLst/>
          </a:prstGeom>
        </p:spPr>
      </p:pic>
      <p:sp>
        <p:nvSpPr>
          <p:cNvPr id="5" name="TextBox 4">
            <a:extLst>
              <a:ext uri="{FF2B5EF4-FFF2-40B4-BE49-F238E27FC236}">
                <a16:creationId xmlns:a16="http://schemas.microsoft.com/office/drawing/2014/main" id="{CD2D7957-2641-ADC7-F9F5-CE26AEF6CD52}"/>
              </a:ext>
            </a:extLst>
          </p:cNvPr>
          <p:cNvSpPr txBox="1"/>
          <p:nvPr/>
        </p:nvSpPr>
        <p:spPr>
          <a:xfrm>
            <a:off x="243840" y="198120"/>
            <a:ext cx="6370320" cy="5741572"/>
          </a:xfrm>
          <a:prstGeom prst="rect">
            <a:avLst/>
          </a:prstGeom>
          <a:noFill/>
        </p:spPr>
        <p:txBody>
          <a:bodyPr wrap="square">
            <a:spAutoFit/>
          </a:bodyPr>
          <a:lstStyle/>
          <a:p>
            <a:pPr marL="0" marR="0" algn="just">
              <a:lnSpc>
                <a:spcPct val="150000"/>
              </a:lnSpc>
              <a:buNone/>
            </a:pPr>
            <a:r>
              <a:rPr lang="en-US" sz="2400" b="1" dirty="0">
                <a:effectLst/>
                <a:latin typeface="Times New Roman" panose="02020603050405020304" pitchFamily="18" charset="0"/>
                <a:ea typeface="Times New Roman" panose="02020603050405020304" pitchFamily="18" charset="0"/>
              </a:rPr>
              <a:t>Types of Logistic Regression</a:t>
            </a:r>
          </a:p>
          <a:p>
            <a:pPr marL="0" marR="0" algn="just">
              <a:lnSpc>
                <a:spcPct val="150000"/>
              </a:lnSpc>
              <a:buNone/>
            </a:pP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On the basis of the categories, Logistic Regression can be classified into three types:</a:t>
            </a:r>
            <a:endParaRPr lang="en-US" sz="16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Aft>
                <a:spcPts val="800"/>
              </a:spcAft>
              <a:buFont typeface="+mj-lt"/>
              <a:buAutoNum type="arabicPeriod" startAt="2"/>
              <a:tabLst>
                <a:tab pos="457200" algn="l"/>
              </a:tabLst>
            </a:pPr>
            <a:r>
              <a:rPr lang="en-US" sz="1800" dirty="0">
                <a:effectLst/>
                <a:latin typeface="Times New Roman" panose="02020603050405020304" pitchFamily="18" charset="0"/>
                <a:ea typeface="Times New Roman" panose="02020603050405020304" pitchFamily="18" charset="0"/>
              </a:rPr>
              <a:t>Binomial: In binomial Logistic regression, there can be only two possible types of the dependent variables, such as 0 or 1, Pass or Fail, etc.</a:t>
            </a:r>
            <a:endParaRPr lang="en-US" sz="16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Aft>
                <a:spcPts val="800"/>
              </a:spcAft>
              <a:buFont typeface="+mj-lt"/>
              <a:buAutoNum type="arabicPeriod" startAt="2"/>
              <a:tabLst>
                <a:tab pos="457200" algn="l"/>
              </a:tabLst>
            </a:pPr>
            <a:r>
              <a:rPr lang="en-US" sz="1800" dirty="0">
                <a:effectLst/>
                <a:latin typeface="Times New Roman" panose="02020603050405020304" pitchFamily="18" charset="0"/>
                <a:ea typeface="Times New Roman" panose="02020603050405020304" pitchFamily="18" charset="0"/>
              </a:rPr>
              <a:t>Multinomial: In multinomial Logistic regression, there can be 3 or more possible unordered types of the dependent variable, such as “cat”, “dogs”, or “sheep”</a:t>
            </a:r>
            <a:endParaRPr lang="en-US" sz="16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Aft>
                <a:spcPts val="800"/>
              </a:spcAft>
              <a:buFont typeface="+mj-lt"/>
              <a:buAutoNum type="arabicPeriod" startAt="2"/>
              <a:tabLst>
                <a:tab pos="457200" algn="l"/>
              </a:tabLst>
            </a:pPr>
            <a:r>
              <a:rPr lang="en-US" sz="1800" dirty="0">
                <a:effectLst/>
                <a:latin typeface="Times New Roman" panose="02020603050405020304" pitchFamily="18" charset="0"/>
                <a:ea typeface="Times New Roman" panose="02020603050405020304" pitchFamily="18" charset="0"/>
              </a:rPr>
              <a:t>Ordinal: In ordinal Logistic regression, there can be 3 or more possible ordered types of dependent variables, such as “low”, “Medium”, or “High”.</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14072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1EA9D7-2355-5B6F-4D2C-B530F599F9FA}"/>
              </a:ext>
            </a:extLst>
          </p:cNvPr>
          <p:cNvSpPr txBox="1"/>
          <p:nvPr/>
        </p:nvSpPr>
        <p:spPr>
          <a:xfrm>
            <a:off x="152400" y="137160"/>
            <a:ext cx="10256520" cy="6288901"/>
          </a:xfrm>
          <a:prstGeom prst="rect">
            <a:avLst/>
          </a:prstGeom>
          <a:noFill/>
        </p:spPr>
        <p:txBody>
          <a:bodyPr wrap="square">
            <a:spAutoFit/>
          </a:bodyPr>
          <a:lstStyle/>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Properties of logit model</a:t>
            </a:r>
            <a:endParaRPr lang="en-US" sz="16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buFont typeface="+mj-lt"/>
              <a:buAutoNum type="arabicPeriod"/>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As P goes from 0 to 1 (i.e., as Z varies from −∞ to +∞),the logit L goes from −∞ to +∞.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50000"/>
              </a:lnSpc>
              <a:buFont typeface="+mj-lt"/>
              <a:buAutoNum type="arabicPeriod"/>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Although L is linear in X, the probabilities themselves are not. This property is in contrast with the LPM model where the probabilities increase linearly with X.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50000"/>
              </a:lnSpc>
              <a:buFont typeface="+mj-lt"/>
              <a:buAutoNum type="arabicPeriod"/>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Although we have included only a single X variable, or regressor, in the preceding model, one can add as many regressors as may be dictated by the underlying theory.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50000"/>
              </a:lnSpc>
              <a:buFont typeface="+mj-lt"/>
              <a:buAutoNum type="arabicPeriod"/>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logit becomes negative and increasingly large in magnitude as the odds ratio decreases from 1 to 0 and becomes increasingly large and positive as the odds ratio increases from 1 to infinity.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50000"/>
              </a:lnSpc>
              <a:buFont typeface="+mj-lt"/>
              <a:buAutoNum type="arabicPeriod"/>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interpretation of the logit model is as follows: β2, the slope, measures the change in L for a unit change in X, that is, it tells how the log-odds in favor of owning a house change as income changes by a unit,say,Rs.1000.The intercept β1 is the value of the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logodds</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in favor of owning a house if income is zero. Like most interpretations of intercepts, this interpretation may not have any physical meaning.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50000"/>
              </a:lnSpc>
              <a:spcAft>
                <a:spcPts val="800"/>
              </a:spcAft>
              <a:buFont typeface="+mj-lt"/>
              <a:buAutoNum type="arabicPeriod"/>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Whereas the LPM assumes that Pi is linearly related to Xi, the logit model assumes that the log of the odds ratio is linearly related to Xi.</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r>
              <a:rPr lang="en-US" sz="1800" b="1"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02035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C20F8-1A27-B064-6BE6-416C061531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C7149B-D630-06ED-1A6A-86629802DD46}"/>
              </a:ext>
            </a:extLst>
          </p:cNvPr>
          <p:cNvSpPr txBox="1"/>
          <p:nvPr/>
        </p:nvSpPr>
        <p:spPr>
          <a:xfrm>
            <a:off x="2518410" y="0"/>
            <a:ext cx="6103620" cy="1754326"/>
          </a:xfrm>
          <a:prstGeom prst="rect">
            <a:avLst/>
          </a:prstGeom>
          <a:noFill/>
        </p:spPr>
        <p:txBody>
          <a:bodyPr wrap="square">
            <a:spAutoFit/>
          </a:bodyPr>
          <a:lstStyle/>
          <a:p>
            <a:pPr marL="0" marR="0" algn="ctr">
              <a:buNone/>
            </a:pPr>
            <a:r>
              <a:rPr lang="en-US" sz="1800" b="1" dirty="0">
                <a:effectLst/>
                <a:latin typeface="Times New Roman" panose="02020603050405020304" pitchFamily="18" charset="0"/>
                <a:ea typeface="Times New Roman" panose="02020603050405020304" pitchFamily="18" charset="0"/>
              </a:rPr>
              <a:t>CHAPTER-3</a:t>
            </a:r>
            <a:endParaRPr lang="en-US" sz="1600" dirty="0">
              <a:effectLst/>
              <a:latin typeface="Times New Roman" panose="02020603050405020304" pitchFamily="18" charset="0"/>
              <a:ea typeface="Times New Roman" panose="02020603050405020304" pitchFamily="18" charset="0"/>
            </a:endParaRPr>
          </a:p>
          <a:p>
            <a:pPr marL="0" marR="0" algn="ctr"/>
            <a:r>
              <a:rPr lang="en-US" sz="1800" b="1" dirty="0">
                <a:effectLst/>
                <a:latin typeface="Times New Roman" panose="02020603050405020304" pitchFamily="18" charset="0"/>
                <a:ea typeface="Times New Roman" panose="02020603050405020304" pitchFamily="18" charset="0"/>
              </a:rPr>
              <a:t>INSTRUMENTS</a:t>
            </a:r>
          </a:p>
          <a:p>
            <a:pPr marL="342900" indent="-342900" algn="ctr">
              <a:buAutoNum type="arabicPeriod"/>
            </a:pPr>
            <a:r>
              <a:rPr lang="en-US" dirty="0"/>
              <a:t>SOFTWARE DESCRIPTIPON</a:t>
            </a:r>
          </a:p>
          <a:p>
            <a:pPr marL="342900" indent="-342900" algn="ctr">
              <a:buAutoNum type="arabicPeriod" startAt="2"/>
            </a:pPr>
            <a:r>
              <a:rPr lang="en-US" dirty="0"/>
              <a:t>REVERSION</a:t>
            </a:r>
          </a:p>
          <a:p>
            <a:pPr algn="ctr"/>
            <a:r>
              <a:rPr lang="en-US" dirty="0"/>
              <a:t>3. RSTUDIO APPLICATION FOR WINDOWS</a:t>
            </a:r>
          </a:p>
          <a:p>
            <a:pPr algn="ctr"/>
            <a:r>
              <a:rPr lang="en-US" dirty="0"/>
              <a:t> 4. PACKAGE IN R PROGRAMMING</a:t>
            </a:r>
            <a:endParaRPr lang="en-US" sz="16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B7F9AECF-D93F-8780-7780-457C82DA694F}"/>
              </a:ext>
            </a:extLst>
          </p:cNvPr>
          <p:cNvSpPr txBox="1"/>
          <p:nvPr/>
        </p:nvSpPr>
        <p:spPr>
          <a:xfrm>
            <a:off x="670560" y="1754326"/>
            <a:ext cx="9003030" cy="4613058"/>
          </a:xfrm>
          <a:prstGeom prst="rect">
            <a:avLst/>
          </a:prstGeom>
          <a:noFill/>
        </p:spPr>
        <p:txBody>
          <a:bodyPr wrap="square">
            <a:spAutoFit/>
          </a:bodyPr>
          <a:lstStyle/>
          <a:p>
            <a:pPr marL="0" marR="0" algn="just">
              <a:lnSpc>
                <a:spcPct val="150000"/>
              </a:lnSpc>
              <a:buNone/>
            </a:pPr>
            <a:r>
              <a:rPr lang="en-US" sz="1800" b="1" u="sng" dirty="0">
                <a:effectLst/>
                <a:latin typeface="Times New Roman" panose="02020603050405020304" pitchFamily="18" charset="0"/>
                <a:ea typeface="Times New Roman" panose="02020603050405020304" pitchFamily="18" charset="0"/>
              </a:rPr>
              <a:t>1.SOFTWARE DESCRIPTION</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R is not solely entrusted by academics, however many massive firms and MNC’s additionally use R programming language, including Uber, Google, Airbnb, Facebook, and then on. Data analysis with R is finished in an exceedingly series of steps: programming, transforming, discovering, modelling, and communicating the results. </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1.1 EVOLUTION OF R</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R was initially written by Ross Ihaka and Robert Gentleman at the Department of Statistics of the University of Auckland in Auckland, New Zealand. R made it’s first appearance in 1993.</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A large group of individuals has contributed to R by sending code and bug reports.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Since mid-1997 there has been a core group (the "R Core Team") who can modify the R source code archive.</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72636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6120E9-553B-EDF3-C8B1-79EB5BEEA34F}"/>
              </a:ext>
            </a:extLst>
          </p:cNvPr>
          <p:cNvSpPr txBox="1"/>
          <p:nvPr/>
        </p:nvSpPr>
        <p:spPr>
          <a:xfrm>
            <a:off x="-30480" y="0"/>
            <a:ext cx="12192000" cy="7224863"/>
          </a:xfrm>
          <a:prstGeom prst="rect">
            <a:avLst/>
          </a:prstGeom>
          <a:noFill/>
        </p:spPr>
        <p:txBody>
          <a:bodyPr wrap="square">
            <a:spAutoFit/>
          </a:bodyPr>
          <a:lstStyle/>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 </a:t>
            </a:r>
            <a:r>
              <a:rPr lang="en-US" sz="1800" b="1" u="sng" dirty="0">
                <a:effectLst/>
                <a:latin typeface="Times New Roman" panose="02020603050405020304" pitchFamily="18" charset="0"/>
                <a:ea typeface="Times New Roman" panose="02020603050405020304" pitchFamily="18" charset="0"/>
              </a:rPr>
              <a:t>2.R VERSION</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R is free software and comes with ABSOLUTELY NO WARRANTY. You are welcome to redistribute it under certain conditions. Type 'license()' or '</a:t>
            </a:r>
            <a:r>
              <a:rPr lang="en-US" sz="1800" dirty="0" err="1">
                <a:effectLst/>
                <a:latin typeface="Times New Roman" panose="02020603050405020304" pitchFamily="18" charset="0"/>
                <a:ea typeface="Times New Roman" panose="02020603050405020304" pitchFamily="18" charset="0"/>
              </a:rPr>
              <a:t>licence</a:t>
            </a:r>
            <a:r>
              <a:rPr lang="en-US" sz="1800" dirty="0">
                <a:effectLst/>
                <a:latin typeface="Times New Roman" panose="02020603050405020304" pitchFamily="18" charset="0"/>
                <a:ea typeface="Times New Roman" panose="02020603050405020304" pitchFamily="18" charset="0"/>
              </a:rPr>
              <a:t>()' for distribution details. Natural language support but running in an English locale</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R is a collaborative project with many contributors. Type 'contributors()' for more information and 'citation()' on how to cite R or R packages in publications.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Type 'demo()' for some demos, 'help()' for on-line help, or '</a:t>
            </a:r>
            <a:r>
              <a:rPr lang="en-US" sz="1800" dirty="0" err="1">
                <a:effectLst/>
                <a:latin typeface="Times New Roman" panose="02020603050405020304" pitchFamily="18" charset="0"/>
                <a:ea typeface="Times New Roman" panose="02020603050405020304" pitchFamily="18" charset="0"/>
              </a:rPr>
              <a:t>help.start</a:t>
            </a:r>
            <a:r>
              <a:rPr lang="en-US" sz="1800" dirty="0">
                <a:effectLst/>
                <a:latin typeface="Times New Roman" panose="02020603050405020304" pitchFamily="18" charset="0"/>
                <a:ea typeface="Times New Roman" panose="02020603050405020304" pitchFamily="18" charset="0"/>
              </a:rPr>
              <a:t>()' for an HTML browser interface to help. Type 'q()' to quit R.</a:t>
            </a:r>
          </a:p>
          <a:p>
            <a:pPr marL="0" marR="0" algn="just">
              <a:lnSpc>
                <a:spcPct val="150000"/>
              </a:lnSpc>
            </a:pPr>
            <a:endParaRPr lang="en-US" sz="1800" dirty="0">
              <a:effectLst/>
              <a:latin typeface="Times New Roman" panose="02020603050405020304" pitchFamily="18" charset="0"/>
              <a:ea typeface="Times New Roman" panose="02020603050405020304" pitchFamily="18" charset="0"/>
            </a:endParaRPr>
          </a:p>
          <a:p>
            <a:r>
              <a:rPr lang="en-US" sz="1600" b="1" dirty="0"/>
              <a:t>USAGE OF R PROGRAMMING</a:t>
            </a:r>
          </a:p>
          <a:p>
            <a:r>
              <a:rPr lang="en-US" sz="1600" dirty="0"/>
              <a:t>R language is in much demand in real-world applications because of the following reasons:</a:t>
            </a:r>
          </a:p>
          <a:p>
            <a:r>
              <a:rPr lang="en-US" sz="1600" b="1" dirty="0"/>
              <a:t>IMPORTANT FOR DATA SCIENCE</a:t>
            </a:r>
            <a:r>
              <a:rPr lang="en-US" sz="1600" dirty="0"/>
              <a:t>: As R is an interpreted language, we can run code without any compiler which is most important in data science. R is a vector language and hence powerful and faster than another language. R is used in biology, genetics as well as in statistics. Hence, it can perform any type of task.</a:t>
            </a:r>
          </a:p>
          <a:p>
            <a:r>
              <a:rPr lang="en-US" sz="1600" b="1" dirty="0"/>
              <a:t>OPEN-SOURCE</a:t>
            </a:r>
            <a:r>
              <a:rPr lang="en-US" sz="1600" dirty="0"/>
              <a:t>: R language is an open-source language. It is also maintained by a large number of the programmers as a community across the world. Since R is issued under the General Public License (GNU), and hence there is no restriction on its usage.</a:t>
            </a:r>
          </a:p>
          <a:p>
            <a:r>
              <a:rPr lang="en-US" sz="1600" b="1" dirty="0"/>
              <a:t>USED TO DEVELOP WEB APPS:</a:t>
            </a:r>
            <a:r>
              <a:rPr lang="en-US" sz="1600" dirty="0"/>
              <a:t> R provides the ability to build web applications. Using the R package, we can create develop interactive applications using the console of your R IDE.</a:t>
            </a:r>
          </a:p>
          <a:p>
            <a:r>
              <a:rPr lang="en-US" sz="1600" b="1" dirty="0"/>
              <a:t>PLATFORM INDEPENDENT:</a:t>
            </a:r>
            <a:r>
              <a:rPr lang="en-US" sz="1600" dirty="0"/>
              <a:t> R language is a platform-independent language. It can work on any system irrespective of whether it is Windows, Linux, and Mac.</a:t>
            </a:r>
          </a:p>
          <a:p>
            <a:r>
              <a:rPr lang="en-US" sz="1600" b="1" dirty="0"/>
              <a:t>USED IN MACHINE LEARNING IN R LANGUAGE</a:t>
            </a:r>
            <a:r>
              <a:rPr lang="en-US" sz="1600" dirty="0"/>
              <a:t>: Most important</a:t>
            </a:r>
          </a:p>
          <a:p>
            <a:r>
              <a:rPr lang="en-US" sz="1600" dirty="0"/>
              <a:t>advantage of R programming is that it helps to carry out Machine Learning in R language operations like classification, regression and also provides features for artificial intelligence and neural networks.</a:t>
            </a:r>
          </a:p>
          <a:p>
            <a:pPr marL="0" marR="0" algn="just">
              <a:lnSpc>
                <a:spcPct val="150000"/>
              </a:lnSpc>
            </a:pP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92334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4286-2214-67B3-E576-B468E947CE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1CFB16-70CE-FC50-6E06-12D981CE9F8D}"/>
              </a:ext>
            </a:extLst>
          </p:cNvPr>
          <p:cNvSpPr txBox="1"/>
          <p:nvPr/>
        </p:nvSpPr>
        <p:spPr>
          <a:xfrm>
            <a:off x="0" y="0"/>
            <a:ext cx="10317480" cy="6275051"/>
          </a:xfrm>
          <a:prstGeom prst="rect">
            <a:avLst/>
          </a:prstGeom>
          <a:noFill/>
        </p:spPr>
        <p:txBody>
          <a:bodyPr wrap="square">
            <a:spAutoFit/>
          </a:bodyPr>
          <a:lstStyle/>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 </a:t>
            </a:r>
            <a:r>
              <a:rPr lang="en-US" sz="1800" b="1" u="sng" dirty="0">
                <a:effectLst/>
                <a:latin typeface="Times New Roman" panose="02020603050405020304" pitchFamily="18" charset="0"/>
                <a:ea typeface="Times New Roman" panose="02020603050405020304" pitchFamily="18" charset="0"/>
              </a:rPr>
              <a:t>3.RSTUDIO APPLICATION FOR WINDOWS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RStudio is free, open-source integrated development environment for R programming language. It is designed for the use of data scientists, statisticians, data miners, business intelligence developers. App is designed for the use by data science project teams. Software is powerful and popular IDE for R language. Application is cross-platform product, which is available for Windows, macOS, Ubuntu. Product RStudio app has a simple and intuitive interface that is easy to learn and makes it a good place to start for beginners. Interface has a lot of functionality, and it is great tool for </a:t>
            </a:r>
            <a:r>
              <a:rPr lang="en-US" sz="1800" dirty="0" err="1">
                <a:effectLst/>
                <a:latin typeface="Times New Roman" panose="02020603050405020304" pitchFamily="18" charset="0"/>
                <a:ea typeface="Times New Roman" panose="02020603050405020304" pitchFamily="18" charset="0"/>
              </a:rPr>
              <a:t>analysing</a:t>
            </a:r>
            <a:r>
              <a:rPr lang="en-US" sz="1800" dirty="0">
                <a:effectLst/>
                <a:latin typeface="Times New Roman" panose="02020603050405020304" pitchFamily="18" charset="0"/>
                <a:ea typeface="Times New Roman" panose="02020603050405020304" pitchFamily="18" charset="0"/>
              </a:rPr>
              <a:t> and visualizing data. Application provides a lot of support in form of a built-in help system.</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INTERFACE</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Software RStudio download is well-designed, intuitive, user-friendly application. Design is minimalistic and clean. Interface is clean and user can easily navigate through the menus. Application provides a wide range of features that are mainly categorized into Data Science, Visualization, Administration. Interface is very user-friendly and has a clean design. It is based on "scratchpad" principle, where the user can create their own projects, or start with one of many templates that are available. Application provides code completion, which makes it easier to write code.</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05841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01F10D-DD79-D708-8934-088E6F3F60BD}"/>
              </a:ext>
            </a:extLst>
          </p:cNvPr>
          <p:cNvSpPr txBox="1"/>
          <p:nvPr/>
        </p:nvSpPr>
        <p:spPr>
          <a:xfrm>
            <a:off x="125730" y="0"/>
            <a:ext cx="12066270" cy="7490769"/>
          </a:xfrm>
          <a:prstGeom prst="rect">
            <a:avLst/>
          </a:prstGeom>
          <a:noFill/>
        </p:spPr>
        <p:txBody>
          <a:bodyPr wrap="square">
            <a:spAutoFit/>
          </a:bodyPr>
          <a:lstStyle/>
          <a:p>
            <a:pPr marL="0" marR="0" algn="just">
              <a:lnSpc>
                <a:spcPct val="150000"/>
              </a:lnSpc>
              <a:buNone/>
            </a:pPr>
            <a:r>
              <a:rPr lang="en-US" sz="1800" b="1" u="sng" dirty="0">
                <a:effectLst/>
                <a:latin typeface="Times New Roman" panose="02020603050405020304" pitchFamily="18" charset="0"/>
                <a:ea typeface="Times New Roman" panose="02020603050405020304" pitchFamily="18" charset="0"/>
              </a:rPr>
              <a:t>4.PACKAGES IN R PROGRAMMING</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Packages in R Programming language are a set of R functions, compiled code, and sample data. These are stored under a directory called “library” within the R environment. By default, R installs a group of packages during installation. Once we start the R console, only the default packages are available by default. Other packages that are already installed need to be loaded explicitly to be utilized by the R program that’s getting to use them.</a:t>
            </a:r>
          </a:p>
          <a:p>
            <a:r>
              <a:rPr lang="en-US" sz="1600" b="1" u="sng" dirty="0"/>
              <a:t>FUNCTION USED</a:t>
            </a:r>
            <a:endParaRPr lang="en-US" sz="1600" dirty="0"/>
          </a:p>
          <a:p>
            <a:r>
              <a:rPr lang="en-US" sz="1600" b="1" dirty="0" err="1"/>
              <a:t>glm</a:t>
            </a:r>
            <a:r>
              <a:rPr lang="en-US" sz="1600" b="1" dirty="0"/>
              <a:t>()</a:t>
            </a:r>
            <a:endParaRPr lang="en-US" sz="1600" dirty="0"/>
          </a:p>
          <a:p>
            <a:r>
              <a:rPr lang="en-US" sz="1600" b="1" dirty="0"/>
              <a:t>Fitting Generalized Linear Models</a:t>
            </a:r>
            <a:endParaRPr lang="en-US" sz="1600" dirty="0"/>
          </a:p>
          <a:p>
            <a:r>
              <a:rPr lang="en-US" sz="1600" b="1" dirty="0"/>
              <a:t>Description</a:t>
            </a:r>
            <a:endParaRPr lang="en-US" sz="1600" dirty="0"/>
          </a:p>
          <a:p>
            <a:r>
              <a:rPr lang="en-US" sz="1600" dirty="0" err="1"/>
              <a:t>glm</a:t>
            </a:r>
            <a:r>
              <a:rPr lang="en-US" sz="1600" dirty="0"/>
              <a:t> is used to fit generalized linear models, specified by giving a symbolic description of the linear predictor and a description of the error distribution.</a:t>
            </a:r>
          </a:p>
          <a:p>
            <a:r>
              <a:rPr lang="en-US" sz="1600" b="1" dirty="0"/>
              <a:t>Usage</a:t>
            </a:r>
            <a:endParaRPr lang="en-US" sz="1600" dirty="0"/>
          </a:p>
          <a:p>
            <a:r>
              <a:rPr lang="en-US" sz="1600" dirty="0" err="1"/>
              <a:t>glm</a:t>
            </a:r>
            <a:r>
              <a:rPr lang="en-US" sz="1600" dirty="0"/>
              <a:t>(formula, family = gaussian, data, weights, subset,</a:t>
            </a:r>
          </a:p>
          <a:p>
            <a:r>
              <a:rPr lang="en-US" sz="1600" dirty="0"/>
              <a:t>    </a:t>
            </a:r>
            <a:r>
              <a:rPr lang="en-US" sz="1600" dirty="0" err="1"/>
              <a:t>na.action</a:t>
            </a:r>
            <a:r>
              <a:rPr lang="en-US" sz="1600" dirty="0"/>
              <a:t>, start = NULL, </a:t>
            </a:r>
            <a:r>
              <a:rPr lang="en-US" sz="1600" dirty="0" err="1"/>
              <a:t>etastart</a:t>
            </a:r>
            <a:r>
              <a:rPr lang="en-US" sz="1600" dirty="0"/>
              <a:t>, </a:t>
            </a:r>
            <a:r>
              <a:rPr lang="en-US" sz="1600" dirty="0" err="1"/>
              <a:t>mustart</a:t>
            </a:r>
            <a:r>
              <a:rPr lang="en-US" sz="1600" dirty="0"/>
              <a:t>, offset,</a:t>
            </a:r>
          </a:p>
          <a:p>
            <a:r>
              <a:rPr lang="en-US" sz="1600" dirty="0"/>
              <a:t>    control = list(...), model = TRUE, method = "</a:t>
            </a:r>
            <a:r>
              <a:rPr lang="en-US" sz="1600" dirty="0" err="1"/>
              <a:t>glm.fit</a:t>
            </a:r>
            <a:r>
              <a:rPr lang="en-US" sz="1600" dirty="0"/>
              <a:t>",</a:t>
            </a:r>
          </a:p>
          <a:p>
            <a:r>
              <a:rPr lang="en-US" sz="1600" dirty="0"/>
              <a:t>    x = FALSE, y = TRUE, </a:t>
            </a:r>
            <a:r>
              <a:rPr lang="en-US" sz="1600" dirty="0" err="1"/>
              <a:t>singular.ok</a:t>
            </a:r>
            <a:r>
              <a:rPr lang="en-US" sz="1600" dirty="0"/>
              <a:t> = TRUE, contrasts = NULL, ...)</a:t>
            </a:r>
          </a:p>
          <a:p>
            <a:r>
              <a:rPr lang="en-US" sz="1600" dirty="0"/>
              <a:t> </a:t>
            </a:r>
          </a:p>
          <a:p>
            <a:r>
              <a:rPr lang="en-US" sz="1600" dirty="0" err="1"/>
              <a:t>glm.fit</a:t>
            </a:r>
            <a:r>
              <a:rPr lang="en-US" sz="1600" dirty="0"/>
              <a:t>(x, y, weights = rep.int(1, nobs),</a:t>
            </a:r>
          </a:p>
          <a:p>
            <a:r>
              <a:rPr lang="en-US" sz="1600" dirty="0"/>
              <a:t>        start = NULL, </a:t>
            </a:r>
            <a:r>
              <a:rPr lang="en-US" sz="1600" dirty="0" err="1"/>
              <a:t>etastart</a:t>
            </a:r>
            <a:r>
              <a:rPr lang="en-US" sz="1600" dirty="0"/>
              <a:t> = NULL, </a:t>
            </a:r>
            <a:r>
              <a:rPr lang="en-US" sz="1600" dirty="0" err="1"/>
              <a:t>mustart</a:t>
            </a:r>
            <a:r>
              <a:rPr lang="en-US" sz="1600" dirty="0"/>
              <a:t> = NULL,</a:t>
            </a:r>
          </a:p>
          <a:p>
            <a:r>
              <a:rPr lang="en-US" sz="1600" dirty="0"/>
              <a:t>        offset = rep.int(0, nobs), family = gaussian(),</a:t>
            </a:r>
          </a:p>
          <a:p>
            <a:r>
              <a:rPr lang="en-US" sz="1600" dirty="0"/>
              <a:t>        control = list(), intercept = TRUE, </a:t>
            </a:r>
            <a:r>
              <a:rPr lang="en-US" sz="1600" dirty="0" err="1"/>
              <a:t>singular.ok</a:t>
            </a:r>
            <a:r>
              <a:rPr lang="en-US" sz="1600" dirty="0"/>
              <a:t> = TRUE)</a:t>
            </a:r>
          </a:p>
          <a:p>
            <a:r>
              <a:rPr lang="en-US" sz="1600" dirty="0"/>
              <a:t> </a:t>
            </a:r>
          </a:p>
          <a:p>
            <a:r>
              <a:rPr lang="en-US" sz="1600" dirty="0"/>
              <a:t>## S3 method for class '</a:t>
            </a:r>
            <a:r>
              <a:rPr lang="en-US" sz="1600" dirty="0" err="1"/>
              <a:t>glm</a:t>
            </a:r>
            <a:r>
              <a:rPr lang="en-US" sz="1600" dirty="0"/>
              <a:t>'</a:t>
            </a:r>
          </a:p>
          <a:p>
            <a:r>
              <a:rPr lang="en-US" sz="1600" dirty="0"/>
              <a:t>weights(object, type = c("prior", "working"), ...)</a:t>
            </a:r>
          </a:p>
          <a:p>
            <a:pPr marL="0" marR="0" algn="just">
              <a:lnSpc>
                <a:spcPct val="150000"/>
              </a:lnSpc>
            </a:pP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35649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15B3BB-1EDD-D31F-9771-F101AFB5CA5D}"/>
              </a:ext>
            </a:extLst>
          </p:cNvPr>
          <p:cNvSpPr txBox="1"/>
          <p:nvPr/>
        </p:nvSpPr>
        <p:spPr>
          <a:xfrm>
            <a:off x="2792730" y="0"/>
            <a:ext cx="6103620" cy="1692771"/>
          </a:xfrm>
          <a:prstGeom prst="rect">
            <a:avLst/>
          </a:prstGeom>
          <a:noFill/>
        </p:spPr>
        <p:txBody>
          <a:bodyPr wrap="square">
            <a:spAutoFit/>
          </a:bodyPr>
          <a:lstStyle/>
          <a:p>
            <a:pPr marL="0" marR="0" algn="ctr">
              <a:buNone/>
            </a:pPr>
            <a:r>
              <a:rPr lang="en-US" sz="2400" b="1" dirty="0">
                <a:effectLst/>
                <a:latin typeface="Times New Roman" panose="02020603050405020304" pitchFamily="18" charset="0"/>
                <a:ea typeface="Times New Roman" panose="02020603050405020304" pitchFamily="18" charset="0"/>
              </a:rPr>
              <a:t>CHAPTER-4</a:t>
            </a:r>
          </a:p>
          <a:p>
            <a:pPr marL="0" marR="0" algn="ctr">
              <a:buNone/>
            </a:pPr>
            <a:endParaRPr lang="en-US" sz="1600" dirty="0">
              <a:effectLst/>
              <a:latin typeface="Times New Roman" panose="02020603050405020304" pitchFamily="18" charset="0"/>
              <a:ea typeface="Times New Roman" panose="02020603050405020304" pitchFamily="18" charset="0"/>
            </a:endParaRPr>
          </a:p>
          <a:p>
            <a:pPr marL="0" marR="0" algn="ctr">
              <a:buNone/>
            </a:pPr>
            <a:r>
              <a:rPr lang="en-US" sz="2000" b="1" dirty="0">
                <a:effectLst/>
                <a:latin typeface="Times New Roman" panose="02020603050405020304" pitchFamily="18" charset="0"/>
                <a:ea typeface="Times New Roman" panose="02020603050405020304" pitchFamily="18" charset="0"/>
              </a:rPr>
              <a:t>PREDICTION OF LUNG CANCER USING LOGISTIC</a:t>
            </a:r>
            <a:endParaRPr lang="en-US" dirty="0">
              <a:effectLst/>
              <a:latin typeface="Times New Roman" panose="02020603050405020304" pitchFamily="18" charset="0"/>
              <a:ea typeface="Times New Roman" panose="02020603050405020304" pitchFamily="18" charset="0"/>
            </a:endParaRPr>
          </a:p>
          <a:p>
            <a:pPr marL="0" marR="0" algn="ctr"/>
            <a:r>
              <a:rPr lang="en-US" sz="2000" b="1" dirty="0">
                <a:effectLst/>
                <a:latin typeface="Times New Roman" panose="02020603050405020304" pitchFamily="18" charset="0"/>
                <a:ea typeface="Times New Roman" panose="02020603050405020304" pitchFamily="18" charset="0"/>
              </a:rPr>
              <a:t>REGRESSION ANALYSIS</a:t>
            </a:r>
            <a:endParaRPr lang="en-US"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344D7670-7836-2A5D-5F10-7F10617C6ED7}"/>
              </a:ext>
            </a:extLst>
          </p:cNvPr>
          <p:cNvSpPr txBox="1"/>
          <p:nvPr/>
        </p:nvSpPr>
        <p:spPr>
          <a:xfrm>
            <a:off x="1131570" y="1872734"/>
            <a:ext cx="5269230" cy="2585323"/>
          </a:xfrm>
          <a:prstGeom prst="rect">
            <a:avLst/>
          </a:prstGeom>
          <a:noFill/>
        </p:spPr>
        <p:txBody>
          <a:bodyPr wrap="square">
            <a:spAutoFit/>
          </a:bodyPr>
          <a:lstStyle/>
          <a:p>
            <a:pPr marL="0" marR="0"/>
            <a:r>
              <a:rPr lang="en-US" sz="1800" dirty="0">
                <a:effectLst/>
                <a:latin typeface="Times New Roman" panose="02020603050405020304" pitchFamily="18" charset="0"/>
                <a:ea typeface="Times New Roman" panose="02020603050405020304" pitchFamily="18" charset="0"/>
              </a:rPr>
              <a:t>1.DATA SOURCE AND DESCRIPTION</a:t>
            </a:r>
          </a:p>
          <a:p>
            <a:r>
              <a:rPr lang="en-US" dirty="0"/>
              <a:t>2. DATA PROCESSING</a:t>
            </a:r>
          </a:p>
          <a:p>
            <a:r>
              <a:rPr lang="en-US" dirty="0"/>
              <a:t>3. LOAD THE DATA </a:t>
            </a:r>
          </a:p>
          <a:p>
            <a:pPr marL="342900" indent="-342900">
              <a:buAutoNum type="arabicPeriod" startAt="4"/>
            </a:pPr>
            <a:r>
              <a:rPr lang="en-US" dirty="0"/>
              <a:t>LOAD THE TEST DATA </a:t>
            </a:r>
          </a:p>
          <a:p>
            <a:r>
              <a:rPr lang="en-US" dirty="0"/>
              <a:t>5. MAKE PRIDICTIONS OF NEW DATA</a:t>
            </a:r>
          </a:p>
          <a:p>
            <a:pPr marL="342900" indent="-342900">
              <a:buAutoNum type="arabicPeriod" startAt="6"/>
            </a:pPr>
            <a:r>
              <a:rPr lang="en-US" dirty="0"/>
              <a:t>CONVERT PROBABILITIES TO CLASS LABELS </a:t>
            </a:r>
          </a:p>
          <a:p>
            <a:pPr marL="342900" indent="-342900">
              <a:buAutoNum type="arabicPeriod" startAt="6"/>
            </a:pPr>
            <a:r>
              <a:rPr lang="en-US" dirty="0"/>
              <a:t>CALCULATE ACCURACY</a:t>
            </a:r>
          </a:p>
          <a:p>
            <a:pPr marL="342900" indent="-342900">
              <a:buAutoNum type="arabicPeriod" startAt="6"/>
            </a:pPr>
            <a:r>
              <a:rPr lang="en-US" dirty="0"/>
              <a:t>EVALUTE MODEL PERFORMANCE</a:t>
            </a:r>
          </a:p>
          <a:p>
            <a:pPr marL="342900" indent="-342900">
              <a:buAutoNum type="arabicPeriod" startAt="6"/>
            </a:pPr>
            <a:r>
              <a:rPr lang="en-US" dirty="0"/>
              <a:t>INTERPRETATION  </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46702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5B5159-3802-BBEC-8108-8A96FFA1B7BC}"/>
              </a:ext>
            </a:extLst>
          </p:cNvPr>
          <p:cNvSpPr txBox="1"/>
          <p:nvPr/>
        </p:nvSpPr>
        <p:spPr>
          <a:xfrm>
            <a:off x="0" y="0"/>
            <a:ext cx="10911840" cy="6926896"/>
          </a:xfrm>
          <a:prstGeom prst="rect">
            <a:avLst/>
          </a:prstGeom>
          <a:noFill/>
        </p:spPr>
        <p:txBody>
          <a:bodyPr wrap="square">
            <a:spAutoFit/>
          </a:bodyPr>
          <a:lstStyle/>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 1.Data Source</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The dataset for this study is sourced from a publicly available clinical database ‘Kaggle’ The dataset was selected based on its relevance to lung cancer prediction, availability of key variables, and ethical considerations (e.g., de-identified data to protect patient privacy). The use of secondary data ensures that the study adheres to ethical standards without requiring direct patient interaction or institutional review board (IRB) approval for data collection.</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800" b="1" dirty="0">
                <a:effectLst/>
                <a:latin typeface="Times New Roman" panose="02020603050405020304" pitchFamily="18" charset="0"/>
                <a:ea typeface="Times New Roman" panose="02020603050405020304" pitchFamily="18" charset="0"/>
              </a:rPr>
              <a:t> Variables</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The dataset comprises a diverse set of demographic and clinical variables identified in the literature as significant predictors of lung cancer risk. These variables provide a comprehensive representation of factors influencing lung cancer diagnosis, enabling the model to capture complex relationships. The variables include:</a:t>
            </a:r>
          </a:p>
          <a:p>
            <a:pPr algn="just">
              <a:lnSpc>
                <a:spcPct val="150000"/>
              </a:lnSpc>
            </a:pPr>
            <a:r>
              <a:rPr lang="en-IN" b="1" dirty="0"/>
              <a:t>          </a:t>
            </a:r>
            <a:r>
              <a:rPr lang="en-IN" dirty="0"/>
              <a:t>1.Demographic</a:t>
            </a:r>
          </a:p>
          <a:p>
            <a:pPr algn="just">
              <a:lnSpc>
                <a:spcPct val="150000"/>
              </a:lnSpc>
            </a:pPr>
            <a:r>
              <a:rPr lang="en-US" dirty="0"/>
              <a:t>          2.Behavioural</a:t>
            </a:r>
          </a:p>
          <a:p>
            <a:pPr algn="just">
              <a:lnSpc>
                <a:spcPct val="150000"/>
              </a:lnSpc>
            </a:pPr>
            <a:r>
              <a:rPr lang="en-US" dirty="0"/>
              <a:t>         3.Medical( history)</a:t>
            </a:r>
          </a:p>
          <a:p>
            <a:pPr algn="just">
              <a:lnSpc>
                <a:spcPct val="150000"/>
              </a:lnSpc>
            </a:pPr>
            <a:r>
              <a:rPr lang="en-US" dirty="0"/>
              <a:t>         4.Chronic Cough </a:t>
            </a:r>
          </a:p>
          <a:p>
            <a:pPr algn="just">
              <a:lnSpc>
                <a:spcPct val="150000"/>
              </a:lnSpc>
            </a:pPr>
            <a:r>
              <a:rPr lang="en-US" dirty="0"/>
              <a:t>         5.Wheezing </a:t>
            </a:r>
          </a:p>
          <a:p>
            <a:pPr algn="just">
              <a:lnSpc>
                <a:spcPct val="150000"/>
              </a:lnSpc>
            </a:pPr>
            <a:r>
              <a:rPr lang="en-US" dirty="0"/>
              <a:t>         6.Chest Pain</a:t>
            </a:r>
          </a:p>
          <a:p>
            <a:pPr lvl="0"/>
            <a:r>
              <a:rPr lang="en-US" dirty="0"/>
              <a:t>         7.Lung Cancer Diagnosis</a:t>
            </a:r>
          </a:p>
          <a:p>
            <a:pPr marL="0" marR="0" algn="just">
              <a:lnSpc>
                <a:spcPct val="150000"/>
              </a:lnSpc>
            </a:pP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62145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87BC06-2E8B-AC94-612B-F1AF076C3B99}"/>
              </a:ext>
            </a:extLst>
          </p:cNvPr>
          <p:cNvSpPr txBox="1"/>
          <p:nvPr/>
        </p:nvSpPr>
        <p:spPr>
          <a:xfrm>
            <a:off x="0" y="0"/>
            <a:ext cx="9936480" cy="7065396"/>
          </a:xfrm>
          <a:prstGeom prst="rect">
            <a:avLst/>
          </a:prstGeom>
          <a:noFill/>
        </p:spPr>
        <p:txBody>
          <a:bodyPr wrap="square">
            <a:spAutoFit/>
          </a:bodyPr>
          <a:lstStyle/>
          <a:p>
            <a:pPr marL="0" marR="0" algn="just">
              <a:lnSpc>
                <a:spcPct val="150000"/>
              </a:lnSpc>
              <a:buNone/>
            </a:pPr>
            <a:r>
              <a:rPr lang="en-US" sz="1800" b="1" u="sng" dirty="0">
                <a:effectLst/>
                <a:latin typeface="Times New Roman" panose="02020603050405020304" pitchFamily="18" charset="0"/>
                <a:ea typeface="Times New Roman" panose="02020603050405020304" pitchFamily="18" charset="0"/>
              </a:rPr>
              <a:t> Data Preprocessing</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pPr>
            <a:r>
              <a:rPr lang="en-US" sz="1800" dirty="0">
                <a:effectLst/>
                <a:latin typeface="Times New Roman" panose="02020603050405020304" pitchFamily="18" charset="0"/>
                <a:ea typeface="Times New Roman" panose="02020603050405020304" pitchFamily="18" charset="0"/>
              </a:rPr>
              <a:t>Data preprocessing is a critical step to ensure the quality, reliability, and suitability of the dataset for logistic regression modeling. Poor data quality, such as missing values or outliers, can bias model results and reduce predictive accuracy. The following preprocessing steps were applied systematically.</a:t>
            </a:r>
          </a:p>
          <a:p>
            <a:r>
              <a:rPr lang="en-US" b="1" dirty="0"/>
              <a:t>Data Cleaning</a:t>
            </a:r>
          </a:p>
          <a:p>
            <a:endParaRPr lang="en-US" dirty="0"/>
          </a:p>
          <a:p>
            <a:r>
              <a:rPr lang="en-US" b="1" dirty="0"/>
              <a:t>Missing Values</a:t>
            </a:r>
            <a:r>
              <a:rPr lang="en-US" dirty="0"/>
              <a:t>: Missing data was identified and handled using appropriate techniques, such as deletion or imputation, depending on the extent and nature of the missing data. For minimal missingness, listwise deletion was considered. For significant missingness, imputation techniques, such as mean or median imputation for numerical variables or mode imputation for categorical variables, were applied.</a:t>
            </a:r>
          </a:p>
          <a:p>
            <a:r>
              <a:rPr lang="en-US" b="1" dirty="0"/>
              <a:t>Outliers</a:t>
            </a:r>
            <a:r>
              <a:rPr lang="en-US" dirty="0"/>
              <a:t>: Outliers in numerical variables (e.g., age) were detected using statistical methods like the Interquartile Range (IQR) method. Values beyond a certain threshold were flagged and either capped or transformed to reduce their impact.</a:t>
            </a:r>
          </a:p>
          <a:p>
            <a:r>
              <a:rPr lang="en-US" b="1" dirty="0"/>
              <a:t>Duplicates</a:t>
            </a:r>
            <a:r>
              <a:rPr lang="en-US" dirty="0"/>
              <a:t>: Duplicate records were identified and removed to prevent overfitting and bias.</a:t>
            </a:r>
          </a:p>
          <a:p>
            <a:endParaRPr lang="en-US" dirty="0"/>
          </a:p>
          <a:p>
            <a:r>
              <a:rPr lang="en-US" b="1" dirty="0"/>
              <a:t>Feature Encoding</a:t>
            </a:r>
            <a:endParaRPr lang="en-US" dirty="0"/>
          </a:p>
          <a:p>
            <a:r>
              <a:rPr lang="en-US" dirty="0"/>
              <a:t>Categorical variables, such as smoking history and gender, were encoded numerically to make them compatible with logistic regression. One-hot encoding was used for nominal variables with more than two categories (e.g., smoking history: Never, Former, Current), creating binary dummy variables. Binary categorical variables (e.g., gender) were label-encoded (e.g., Male = 0, Female = 1).</a:t>
            </a:r>
          </a:p>
          <a:p>
            <a:pPr marL="0" marR="0" algn="just">
              <a:lnSpc>
                <a:spcPct val="150000"/>
              </a:lnSpc>
            </a:pP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93129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16C81-6E39-A371-9EC8-A2D7B1F533DF}"/>
              </a:ext>
            </a:extLst>
          </p:cNvPr>
          <p:cNvSpPr txBox="1"/>
          <p:nvPr/>
        </p:nvSpPr>
        <p:spPr>
          <a:xfrm>
            <a:off x="0" y="1"/>
            <a:ext cx="9601200" cy="7660046"/>
          </a:xfrm>
          <a:prstGeom prst="rect">
            <a:avLst/>
          </a:prstGeom>
          <a:noFill/>
        </p:spPr>
        <p:txBody>
          <a:bodyPr wrap="square">
            <a:spAutoFit/>
          </a:bodyPr>
          <a:lstStyle/>
          <a:p>
            <a:pPr marL="0" marR="0" algn="just">
              <a:lnSpc>
                <a:spcPct val="150000"/>
              </a:lnSpc>
              <a:buNone/>
            </a:pPr>
            <a:r>
              <a:rPr lang="en-IN" sz="2400" b="1" dirty="0">
                <a:effectLst/>
                <a:latin typeface="Times New Roman" panose="02020603050405020304" pitchFamily="18" charset="0"/>
                <a:ea typeface="Times New Roman" panose="02020603050405020304" pitchFamily="18" charset="0"/>
              </a:rPr>
              <a:t>3.</a:t>
            </a:r>
            <a:r>
              <a:rPr lang="en-IN" sz="2400" b="1" u="sng" dirty="0">
                <a:effectLst/>
                <a:latin typeface="Times New Roman" panose="02020603050405020304" pitchFamily="18" charset="0"/>
                <a:ea typeface="Times New Roman" panose="02020603050405020304" pitchFamily="18" charset="0"/>
              </a:rPr>
              <a:t>Load the Data</a:t>
            </a:r>
            <a:endParaRPr lang="en-US" sz="20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data=read.csv("LUNGDATA1.csv",header=T)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head(data)</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&gt;</a:t>
            </a:r>
            <a:r>
              <a:rPr lang="en-IN" sz="1800" dirty="0" err="1">
                <a:effectLst/>
                <a:latin typeface="Times New Roman" panose="02020603050405020304" pitchFamily="18" charset="0"/>
                <a:ea typeface="Times New Roman" panose="02020603050405020304" pitchFamily="18" charset="0"/>
              </a:rPr>
              <a:t>lcfit</a:t>
            </a:r>
            <a:r>
              <a:rPr lang="en-IN" sz="1800" dirty="0">
                <a:effectLst/>
                <a:latin typeface="Times New Roman" panose="02020603050405020304" pitchFamily="18" charset="0"/>
                <a:ea typeface="Times New Roman" panose="02020603050405020304" pitchFamily="18" charset="0"/>
              </a:rPr>
              <a:t>=</a:t>
            </a:r>
            <a:r>
              <a:rPr lang="en-IN" sz="1800" dirty="0" err="1">
                <a:effectLst/>
                <a:latin typeface="Times New Roman" panose="02020603050405020304" pitchFamily="18" charset="0"/>
                <a:ea typeface="Times New Roman" panose="02020603050405020304" pitchFamily="18" charset="0"/>
              </a:rPr>
              <a:t>glm</a:t>
            </a:r>
            <a:r>
              <a:rPr lang="en-IN" sz="1800" dirty="0">
                <a:effectLst/>
                <a:latin typeface="Times New Roman" panose="02020603050405020304" pitchFamily="18" charset="0"/>
                <a:ea typeface="Times New Roman" panose="02020603050405020304" pitchFamily="18" charset="0"/>
              </a:rPr>
              <a:t>(LC~GEN+AGE+SMOK+Y.FIGURE+PRESSURE+C.DISEASE+FATIGUE+ALLERGY+COUGH+S.DIFFICULTY,family=</a:t>
            </a:r>
            <a:r>
              <a:rPr lang="en-IN" sz="1800" dirty="0" err="1">
                <a:effectLst/>
                <a:latin typeface="Times New Roman" panose="02020603050405020304" pitchFamily="18" charset="0"/>
                <a:ea typeface="Times New Roman" panose="02020603050405020304" pitchFamily="18" charset="0"/>
              </a:rPr>
              <a:t>binomial,data</a:t>
            </a:r>
            <a:r>
              <a:rPr lang="en-IN" sz="1800" dirty="0">
                <a:effectLst/>
                <a:latin typeface="Times New Roman" panose="02020603050405020304" pitchFamily="18" charset="0"/>
                <a:ea typeface="Times New Roman" panose="02020603050405020304" pitchFamily="18" charset="0"/>
              </a:rPr>
              <a:t>=data)</a:t>
            </a:r>
            <a:endParaRPr lang="en-US" sz="1600" dirty="0">
              <a:effectLst/>
              <a:latin typeface="Times New Roman" panose="02020603050405020304" pitchFamily="18" charset="0"/>
              <a:ea typeface="Times New Roman" panose="02020603050405020304" pitchFamily="18" charset="0"/>
            </a:endParaRPr>
          </a:p>
          <a:p>
            <a:pPr marL="285750" marR="0" indent="-285750">
              <a:lnSpc>
                <a:spcPct val="150000"/>
              </a:lnSpc>
              <a:buFont typeface="Wingdings" panose="05000000000000000000" pitchFamily="2" charset="2"/>
              <a:buChar char="Ø"/>
            </a:pPr>
            <a:r>
              <a:rPr lang="en-IN" sz="1800" dirty="0">
                <a:effectLst/>
                <a:latin typeface="Times New Roman" panose="02020603050405020304" pitchFamily="18" charset="0"/>
                <a:ea typeface="Times New Roman" panose="02020603050405020304" pitchFamily="18" charset="0"/>
              </a:rPr>
              <a:t>summary(</a:t>
            </a:r>
            <a:r>
              <a:rPr lang="en-IN" sz="1800" dirty="0" err="1">
                <a:effectLst/>
                <a:latin typeface="Times New Roman" panose="02020603050405020304" pitchFamily="18" charset="0"/>
                <a:ea typeface="Times New Roman" panose="02020603050405020304" pitchFamily="18" charset="0"/>
              </a:rPr>
              <a:t>lcfit</a:t>
            </a:r>
            <a:r>
              <a:rPr lang="en-IN" sz="1800" dirty="0">
                <a:effectLst/>
                <a:latin typeface="Times New Roman" panose="02020603050405020304" pitchFamily="18" charset="0"/>
                <a:ea typeface="Times New Roman" panose="02020603050405020304" pitchFamily="18" charset="0"/>
              </a:rPr>
              <a:t>)</a:t>
            </a:r>
          </a:p>
          <a:p>
            <a:pPr marL="0" marR="0">
              <a:lnSpc>
                <a:spcPct val="150000"/>
              </a:lnSpc>
              <a:buNone/>
            </a:pPr>
            <a:r>
              <a:rPr lang="en-IN" sz="1800" b="1" dirty="0">
                <a:effectLst/>
                <a:latin typeface="Times New Roman" panose="02020603050405020304" pitchFamily="18" charset="0"/>
                <a:ea typeface="Times New Roman" panose="02020603050405020304" pitchFamily="18" charset="0"/>
              </a:rPr>
              <a:t>OUTPUT: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Call:</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err="1">
                <a:effectLst/>
                <a:latin typeface="Times New Roman" panose="02020603050405020304" pitchFamily="18" charset="0"/>
                <a:ea typeface="Times New Roman" panose="02020603050405020304" pitchFamily="18" charset="0"/>
              </a:rPr>
              <a:t>glm</a:t>
            </a:r>
            <a:r>
              <a:rPr lang="en-IN" sz="1800" dirty="0">
                <a:effectLst/>
                <a:latin typeface="Times New Roman" panose="02020603050405020304" pitchFamily="18" charset="0"/>
                <a:ea typeface="Times New Roman" panose="02020603050405020304" pitchFamily="18" charset="0"/>
              </a:rPr>
              <a:t>(formula = LC ~ GEN + AGE + SMOK + Y.FIGURE + PRESSURE + C.DISEASE +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    FATIGUE + ALLERGY + COUGH + S.BREATH, family = binomial,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    data = data)</a:t>
            </a:r>
          </a:p>
          <a:p>
            <a:pPr>
              <a:lnSpc>
                <a:spcPct val="150000"/>
              </a:lnSpc>
            </a:pPr>
            <a:r>
              <a:rPr lang="en-IN" dirty="0">
                <a:latin typeface="Times New Roman" panose="02020603050405020304" pitchFamily="18" charset="0"/>
                <a:ea typeface="Times New Roman" panose="02020603050405020304" pitchFamily="18" charset="0"/>
              </a:rPr>
              <a:t>Coefficients:</a:t>
            </a:r>
            <a:endParaRPr lang="en-US" sz="1600" dirty="0">
              <a:latin typeface="Times New Roman" panose="02020603050405020304" pitchFamily="18" charset="0"/>
              <a:ea typeface="Times New Roman" panose="02020603050405020304" pitchFamily="18" charset="0"/>
            </a:endParaRPr>
          </a:p>
          <a:p>
            <a:pPr>
              <a:lnSpc>
                <a:spcPct val="150000"/>
              </a:lnSpc>
            </a:pPr>
            <a:r>
              <a:rPr lang="en-IN" dirty="0">
                <a:latin typeface="Times New Roman" panose="02020603050405020304" pitchFamily="18" charset="0"/>
                <a:ea typeface="Times New Roman" panose="02020603050405020304" pitchFamily="18" charset="0"/>
              </a:rPr>
              <a:t>             Estimate Std. Error z value </a:t>
            </a:r>
            <a:r>
              <a:rPr lang="en-IN" dirty="0" err="1">
                <a:latin typeface="Times New Roman" panose="02020603050405020304" pitchFamily="18" charset="0"/>
                <a:ea typeface="Times New Roman" panose="02020603050405020304" pitchFamily="18" charset="0"/>
              </a:rPr>
              <a:t>Pr</a:t>
            </a:r>
            <a:r>
              <a:rPr lang="en-IN" dirty="0">
                <a:latin typeface="Times New Roman" panose="02020603050405020304" pitchFamily="18" charset="0"/>
                <a:ea typeface="Times New Roman" panose="02020603050405020304" pitchFamily="18" charset="0"/>
              </a:rPr>
              <a:t>(&gt;|z|)    </a:t>
            </a:r>
            <a:endParaRPr lang="en-US" sz="1600" dirty="0">
              <a:latin typeface="Times New Roman" panose="02020603050405020304" pitchFamily="18" charset="0"/>
              <a:ea typeface="Times New Roman" panose="02020603050405020304" pitchFamily="18" charset="0"/>
            </a:endParaRPr>
          </a:p>
          <a:p>
            <a:pPr>
              <a:lnSpc>
                <a:spcPct val="150000"/>
              </a:lnSpc>
            </a:pPr>
            <a:r>
              <a:rPr lang="en-IN" dirty="0">
                <a:latin typeface="Times New Roman" panose="02020603050405020304" pitchFamily="18" charset="0"/>
                <a:ea typeface="Times New Roman" panose="02020603050405020304" pitchFamily="18" charset="0"/>
              </a:rPr>
              <a:t>(Intercept)  -6.53386    1.84366  -3.544 0.000394 ***</a:t>
            </a:r>
            <a:endParaRPr lang="en-US" sz="1600" dirty="0">
              <a:latin typeface="Times New Roman" panose="02020603050405020304" pitchFamily="18" charset="0"/>
              <a:ea typeface="Times New Roman" panose="02020603050405020304" pitchFamily="18" charset="0"/>
            </a:endParaRPr>
          </a:p>
          <a:p>
            <a:pPr>
              <a:lnSpc>
                <a:spcPct val="150000"/>
              </a:lnSpc>
            </a:pPr>
            <a:r>
              <a:rPr lang="en-IN" dirty="0">
                <a:latin typeface="Times New Roman" panose="02020603050405020304" pitchFamily="18" charset="0"/>
                <a:ea typeface="Times New Roman" panose="02020603050405020304" pitchFamily="18" charset="0"/>
              </a:rPr>
              <a:t>GEN          -1.20339    0.44987  -2.675 0.007473 ** </a:t>
            </a:r>
            <a:endParaRPr lang="en-US" sz="1600" dirty="0">
              <a:latin typeface="Times New Roman" panose="02020603050405020304" pitchFamily="18" charset="0"/>
              <a:ea typeface="Times New Roman" panose="02020603050405020304" pitchFamily="18" charset="0"/>
            </a:endParaRPr>
          </a:p>
          <a:p>
            <a:pPr>
              <a:lnSpc>
                <a:spcPct val="150000"/>
              </a:lnSpc>
            </a:pPr>
            <a:r>
              <a:rPr lang="en-IN" dirty="0">
                <a:latin typeface="Times New Roman" panose="02020603050405020304" pitchFamily="18" charset="0"/>
                <a:ea typeface="Times New Roman" panose="02020603050405020304" pitchFamily="18" charset="0"/>
              </a:rPr>
              <a:t>AGE          -0.04331    0.02492  -1.738 0.082245 .  </a:t>
            </a:r>
            <a:endParaRPr lang="en-US" sz="1600" dirty="0">
              <a:latin typeface="Times New Roman" panose="02020603050405020304" pitchFamily="18" charset="0"/>
              <a:ea typeface="Times New Roman" panose="02020603050405020304" pitchFamily="18" charset="0"/>
            </a:endParaRPr>
          </a:p>
          <a:p>
            <a:pPr>
              <a:lnSpc>
                <a:spcPct val="150000"/>
              </a:lnSpc>
            </a:pPr>
            <a:r>
              <a:rPr lang="en-IN" dirty="0">
                <a:latin typeface="Times New Roman" panose="02020603050405020304" pitchFamily="18"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0" marR="0">
              <a:lnSpc>
                <a:spcPct val="150000"/>
              </a:lnSpc>
              <a:buNone/>
            </a:pP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92014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69ECBE-C890-0B8B-9DA1-B6BD012B4ACB}"/>
              </a:ext>
            </a:extLst>
          </p:cNvPr>
          <p:cNvSpPr txBox="1"/>
          <p:nvPr/>
        </p:nvSpPr>
        <p:spPr>
          <a:xfrm>
            <a:off x="563880" y="0"/>
            <a:ext cx="9433560" cy="6275051"/>
          </a:xfrm>
          <a:prstGeom prst="rect">
            <a:avLst/>
          </a:prstGeom>
          <a:noFill/>
        </p:spPr>
        <p:txBody>
          <a:bodyPr wrap="square">
            <a:spAutoFit/>
          </a:bodyPr>
          <a:lstStyle/>
          <a:p>
            <a:pPr marL="0" marR="0">
              <a:lnSpc>
                <a:spcPct val="150000"/>
              </a:lnSpc>
              <a:buNone/>
            </a:pPr>
            <a:r>
              <a:rPr lang="en-IN" sz="1800" dirty="0">
                <a:effectLst/>
                <a:latin typeface="Times New Roman" panose="02020603050405020304" pitchFamily="18" charset="0"/>
                <a:ea typeface="Times New Roman" panose="02020603050405020304" pitchFamily="18" charset="0"/>
              </a:rPr>
              <a:t>SMOK          1.20575    0.46253   2.607 0.009137 **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Y.FIGURE      1.28672    0.46040   2.795 0.005194 **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PRESSURE      0.91969    0.41444   2.219 0.026478 *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C.DISEASE     2.86508    0.55164   5.194 2.06e-07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pt-BR" sz="1800" dirty="0">
                <a:effectLst/>
                <a:latin typeface="Times New Roman" panose="02020603050405020304" pitchFamily="18" charset="0"/>
                <a:ea typeface="Times New Roman" panose="02020603050405020304" pitchFamily="18" charset="0"/>
              </a:rPr>
              <a:t>FATIGUE       2.80350    0.48317   5.802 6.54e-09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pt-BR" sz="1800" dirty="0">
                <a:effectLst/>
                <a:latin typeface="Times New Roman" panose="02020603050405020304" pitchFamily="18" charset="0"/>
                <a:ea typeface="Times New Roman" panose="02020603050405020304" pitchFamily="18" charset="0"/>
              </a:rPr>
              <a:t>ALLERGY       1.79795    0.42300   4.250 2.13e-05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pt-BR" sz="1800" dirty="0">
                <a:effectLst/>
                <a:latin typeface="Times New Roman" panose="02020603050405020304" pitchFamily="18" charset="0"/>
                <a:ea typeface="Times New Roman" panose="02020603050405020304" pitchFamily="18" charset="0"/>
              </a:rPr>
              <a:t>COUGH         2.68739    0.54513   4.930 8.23e-07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S.BREATH    2.24117    0.55407   4.045 5.23e-05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err="1">
                <a:effectLst/>
                <a:latin typeface="Times New Roman" panose="02020603050405020304" pitchFamily="18" charset="0"/>
                <a:ea typeface="Times New Roman" panose="02020603050405020304" pitchFamily="18" charset="0"/>
              </a:rPr>
              <a:t>Signif</a:t>
            </a:r>
            <a:r>
              <a:rPr lang="en-IN" sz="1800" dirty="0">
                <a:effectLst/>
                <a:latin typeface="Times New Roman" panose="02020603050405020304" pitchFamily="18" charset="0"/>
                <a:ea typeface="Times New Roman" panose="02020603050405020304" pitchFamily="18" charset="0"/>
              </a:rPr>
              <a:t>. codes:  0 ‘***’ 0.001 ‘**’ 0.01 ‘*’ 0.05 ‘.’ 0.1 ‘ ’ 1</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(Dispersion parameter for binomial family taken to be 1)</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    Null deviance: 352.60  on 318  degrees of freedom</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Residual deviance: 179.73  on 308  degrees of freedom</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AIC: 201.73</a:t>
            </a:r>
            <a:endParaRPr lang="en-US" sz="1600" dirty="0">
              <a:effectLst/>
              <a:latin typeface="Times New Roman" panose="02020603050405020304" pitchFamily="18" charset="0"/>
              <a:ea typeface="Times New Roman" panose="02020603050405020304" pitchFamily="18" charset="0"/>
            </a:endParaRPr>
          </a:p>
          <a:p>
            <a:pPr marL="0" marR="0">
              <a:lnSpc>
                <a:spcPct val="150000"/>
              </a:lnSpc>
            </a:pPr>
            <a:r>
              <a:rPr lang="en-IN" sz="1800" dirty="0">
                <a:effectLst/>
                <a:latin typeface="Times New Roman" panose="02020603050405020304" pitchFamily="18" charset="0"/>
                <a:ea typeface="Times New Roman" panose="02020603050405020304" pitchFamily="18" charset="0"/>
              </a:rPr>
              <a:t>Number of Fisher Scoring iterations: 7</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39379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AD768A-36ED-EBCE-AF0D-74759B849528}"/>
              </a:ext>
            </a:extLst>
          </p:cNvPr>
          <p:cNvSpPr txBox="1"/>
          <p:nvPr/>
        </p:nvSpPr>
        <p:spPr>
          <a:xfrm>
            <a:off x="1066800" y="291474"/>
            <a:ext cx="9155430" cy="6275051"/>
          </a:xfrm>
          <a:prstGeom prst="rect">
            <a:avLst/>
          </a:prstGeom>
          <a:noFill/>
        </p:spPr>
        <p:txBody>
          <a:bodyPr wrap="square">
            <a:spAutoFit/>
          </a:bodyPr>
          <a:lstStyle/>
          <a:p>
            <a:pPr marL="0" marR="0">
              <a:lnSpc>
                <a:spcPct val="150000"/>
              </a:lnSpc>
              <a:buNone/>
            </a:pPr>
            <a:r>
              <a:rPr lang="en-IN" sz="1800" b="1" u="sng" dirty="0">
                <a:effectLst/>
                <a:latin typeface="Times New Roman" panose="02020603050405020304" pitchFamily="18" charset="0"/>
                <a:ea typeface="Times New Roman" panose="02020603050405020304" pitchFamily="18" charset="0"/>
              </a:rPr>
              <a:t>4.Load the test Data</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 read the CSV</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&gt; </a:t>
            </a:r>
            <a:r>
              <a:rPr lang="en-IN" sz="1800" dirty="0" err="1">
                <a:effectLst/>
                <a:latin typeface="Times New Roman" panose="02020603050405020304" pitchFamily="18" charset="0"/>
                <a:ea typeface="Times New Roman" panose="02020603050405020304" pitchFamily="18" charset="0"/>
              </a:rPr>
              <a:t>test_data</a:t>
            </a:r>
            <a:r>
              <a:rPr lang="en-IN" sz="1800" dirty="0">
                <a:effectLst/>
                <a:latin typeface="Times New Roman" panose="02020603050405020304" pitchFamily="18" charset="0"/>
                <a:ea typeface="Times New Roman" panose="02020603050405020304" pitchFamily="18" charset="0"/>
              </a:rPr>
              <a:t>=read.csv("TEST_DATA1.csv",header=T)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b="1" u="sng" dirty="0">
                <a:effectLst/>
                <a:latin typeface="Times New Roman" panose="02020603050405020304" pitchFamily="18" charset="0"/>
                <a:ea typeface="Times New Roman" panose="02020603050405020304" pitchFamily="18" charset="0"/>
              </a:rPr>
              <a:t>5. Make Predictions on New Data</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To predict probabilities on new data, use the predict() function with type = "response":</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#predict probabilities on the test data</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err="1">
                <a:effectLst/>
                <a:latin typeface="Times New Roman" panose="02020603050405020304" pitchFamily="18" charset="0"/>
                <a:ea typeface="Times New Roman" panose="02020603050405020304" pitchFamily="18" charset="0"/>
              </a:rPr>
              <a:t>predicted_probs</a:t>
            </a:r>
            <a:r>
              <a:rPr lang="en-IN" sz="1800" dirty="0">
                <a:effectLst/>
                <a:latin typeface="Times New Roman" panose="02020603050405020304" pitchFamily="18" charset="0"/>
                <a:ea typeface="Times New Roman" panose="02020603050405020304" pitchFamily="18" charset="0"/>
              </a:rPr>
              <a:t>=predict(</a:t>
            </a:r>
            <a:r>
              <a:rPr lang="en-IN" sz="1800" dirty="0" err="1">
                <a:effectLst/>
                <a:latin typeface="Times New Roman" panose="02020603050405020304" pitchFamily="18" charset="0"/>
                <a:ea typeface="Times New Roman" panose="02020603050405020304" pitchFamily="18" charset="0"/>
              </a:rPr>
              <a:t>lcfit</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newdata</a:t>
            </a:r>
            <a:r>
              <a:rPr lang="en-IN" sz="1800" dirty="0">
                <a:effectLst/>
                <a:latin typeface="Times New Roman" panose="02020603050405020304" pitchFamily="18" charset="0"/>
                <a:ea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rPr>
              <a:t>test_data</a:t>
            </a:r>
            <a:r>
              <a:rPr lang="en-IN" sz="1800" dirty="0">
                <a:effectLst/>
                <a:latin typeface="Times New Roman" panose="02020603050405020304" pitchFamily="18" charset="0"/>
                <a:ea typeface="Times New Roman" panose="02020603050405020304" pitchFamily="18" charset="0"/>
              </a:rPr>
              <a:t>, type = "response")</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b="1" dirty="0">
                <a:effectLst/>
                <a:latin typeface="Times New Roman" panose="02020603050405020304" pitchFamily="18" charset="0"/>
                <a:ea typeface="Times New Roman" panose="02020603050405020304" pitchFamily="18" charset="0"/>
              </a:rPr>
              <a:t>6.</a:t>
            </a:r>
            <a:r>
              <a:rPr lang="en-IN" sz="1800" b="1" u="sng" dirty="0">
                <a:effectLst/>
                <a:latin typeface="Times New Roman" panose="02020603050405020304" pitchFamily="18" charset="0"/>
                <a:ea typeface="Times New Roman" panose="02020603050405020304" pitchFamily="18" charset="0"/>
              </a:rPr>
              <a:t>Convert Probabilities to Class Labels</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&gt; </a:t>
            </a:r>
            <a:r>
              <a:rPr lang="en-IN" sz="1800" dirty="0" err="1">
                <a:effectLst/>
                <a:latin typeface="Times New Roman" panose="02020603050405020304" pitchFamily="18" charset="0"/>
                <a:ea typeface="Times New Roman" panose="02020603050405020304" pitchFamily="18" charset="0"/>
              </a:rPr>
              <a:t>predicted_classes</a:t>
            </a:r>
            <a:r>
              <a:rPr lang="en-IN" sz="1800" dirty="0">
                <a:effectLst/>
                <a:latin typeface="Times New Roman" panose="02020603050405020304" pitchFamily="18" charset="0"/>
                <a:ea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rPr>
              <a:t>ifelse</a:t>
            </a:r>
            <a:r>
              <a:rPr lang="en-IN" sz="1800" dirty="0">
                <a:effectLst/>
                <a:latin typeface="Times New Roman" panose="02020603050405020304" pitchFamily="18" charset="0"/>
                <a:ea typeface="Times New Roman" panose="02020603050405020304" pitchFamily="18" charset="0"/>
              </a:rPr>
              <a:t>(</a:t>
            </a:r>
            <a:r>
              <a:rPr lang="en-IN" sz="1800" dirty="0" err="1">
                <a:effectLst/>
                <a:latin typeface="Times New Roman" panose="02020603050405020304" pitchFamily="18" charset="0"/>
                <a:ea typeface="Times New Roman" panose="02020603050405020304" pitchFamily="18" charset="0"/>
              </a:rPr>
              <a:t>predicted_probs</a:t>
            </a:r>
            <a:r>
              <a:rPr lang="en-IN" sz="1800" dirty="0">
                <a:effectLst/>
                <a:latin typeface="Times New Roman" panose="02020603050405020304" pitchFamily="18" charset="0"/>
                <a:ea typeface="Times New Roman" panose="02020603050405020304" pitchFamily="18" charset="0"/>
              </a:rPr>
              <a:t> &gt; 0.5, 1, 0)</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#actual values from the test data</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&gt; </a:t>
            </a:r>
            <a:r>
              <a:rPr lang="en-IN" sz="1800" dirty="0" err="1">
                <a:effectLst/>
                <a:latin typeface="Times New Roman" panose="02020603050405020304" pitchFamily="18" charset="0"/>
                <a:ea typeface="Times New Roman" panose="02020603050405020304" pitchFamily="18" charset="0"/>
              </a:rPr>
              <a:t>actual_classes</a:t>
            </a:r>
            <a:r>
              <a:rPr lang="en-IN" sz="1800" dirty="0">
                <a:effectLst/>
                <a:latin typeface="Times New Roman" panose="02020603050405020304" pitchFamily="18" charset="0"/>
                <a:ea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rPr>
              <a:t>as.numeric</a:t>
            </a:r>
            <a:r>
              <a:rPr lang="en-IN" sz="1800" dirty="0">
                <a:effectLst/>
                <a:latin typeface="Times New Roman" panose="02020603050405020304" pitchFamily="18" charset="0"/>
                <a:ea typeface="Times New Roman" panose="02020603050405020304" pitchFamily="18" charset="0"/>
              </a:rPr>
              <a:t>(</a:t>
            </a:r>
            <a:r>
              <a:rPr lang="en-IN" sz="1800" dirty="0" err="1">
                <a:effectLst/>
                <a:latin typeface="Times New Roman" panose="02020603050405020304" pitchFamily="18" charset="0"/>
                <a:ea typeface="Times New Roman" panose="02020603050405020304" pitchFamily="18" charset="0"/>
              </a:rPr>
              <a:t>as.character</a:t>
            </a:r>
            <a:r>
              <a:rPr lang="en-IN" sz="1800" dirty="0">
                <a:effectLst/>
                <a:latin typeface="Times New Roman" panose="02020603050405020304" pitchFamily="18" charset="0"/>
                <a:ea typeface="Times New Roman" panose="02020603050405020304" pitchFamily="18" charset="0"/>
              </a:rPr>
              <a:t>(</a:t>
            </a:r>
            <a:r>
              <a:rPr lang="en-IN" sz="1800" dirty="0" err="1">
                <a:effectLst/>
                <a:latin typeface="Times New Roman" panose="02020603050405020304" pitchFamily="18" charset="0"/>
                <a:ea typeface="Times New Roman" panose="02020603050405020304" pitchFamily="18" charset="0"/>
              </a:rPr>
              <a:t>test_data$LC</a:t>
            </a:r>
            <a:r>
              <a:rPr lang="en-IN"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#create comparison table</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&gt; comparison =</a:t>
            </a:r>
            <a:r>
              <a:rPr lang="en-IN" sz="1800" dirty="0" err="1">
                <a:effectLst/>
                <a:latin typeface="Times New Roman" panose="02020603050405020304" pitchFamily="18" charset="0"/>
                <a:ea typeface="Times New Roman" panose="02020603050405020304" pitchFamily="18" charset="0"/>
              </a:rPr>
              <a:t>data.frame</a:t>
            </a:r>
            <a:r>
              <a:rPr lang="en-IN" sz="1800" dirty="0">
                <a:effectLst/>
                <a:latin typeface="Times New Roman" panose="02020603050405020304" pitchFamily="18" charset="0"/>
                <a:ea typeface="Times New Roman" panose="02020603050405020304" pitchFamily="18" charset="0"/>
              </a:rPr>
              <a:t>( Actual = </a:t>
            </a:r>
            <a:r>
              <a:rPr lang="en-IN" sz="1800" dirty="0" err="1">
                <a:effectLst/>
                <a:latin typeface="Times New Roman" panose="02020603050405020304" pitchFamily="18" charset="0"/>
                <a:ea typeface="Times New Roman" panose="02020603050405020304" pitchFamily="18" charset="0"/>
              </a:rPr>
              <a:t>actual_classes,Predicted</a:t>
            </a:r>
            <a:r>
              <a:rPr lang="en-IN" sz="1800" dirty="0">
                <a:effectLst/>
                <a:latin typeface="Times New Roman" panose="02020603050405020304" pitchFamily="18" charset="0"/>
                <a:ea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rPr>
              <a:t>predicted_classes,Probability</a:t>
            </a:r>
            <a:r>
              <a:rPr lang="en-IN" sz="1800" dirty="0">
                <a:effectLst/>
                <a:latin typeface="Times New Roman" panose="02020603050405020304" pitchFamily="18" charset="0"/>
                <a:ea typeface="Times New Roman" panose="02020603050405020304" pitchFamily="18" charset="0"/>
              </a:rPr>
              <a:t> = round(</a:t>
            </a:r>
            <a:r>
              <a:rPr lang="en-IN" sz="1800" dirty="0" err="1">
                <a:effectLst/>
                <a:latin typeface="Times New Roman" panose="02020603050405020304" pitchFamily="18" charset="0"/>
                <a:ea typeface="Times New Roman" panose="02020603050405020304" pitchFamily="18" charset="0"/>
              </a:rPr>
              <a:t>predicted_probs</a:t>
            </a:r>
            <a:r>
              <a:rPr lang="en-IN" sz="1800" dirty="0">
                <a:effectLst/>
                <a:latin typeface="Times New Roman" panose="02020603050405020304" pitchFamily="18" charset="0"/>
                <a:ea typeface="Times New Roman" panose="02020603050405020304" pitchFamily="18" charset="0"/>
              </a:rPr>
              <a:t>, 3)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pPr>
            <a:r>
              <a:rPr lang="en-IN" sz="1800" dirty="0">
                <a:effectLst/>
                <a:latin typeface="Times New Roman" panose="02020603050405020304" pitchFamily="18" charset="0"/>
                <a:ea typeface="Times New Roman" panose="02020603050405020304" pitchFamily="18" charset="0"/>
              </a:rPr>
              <a:t>&gt; head(comparison)</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28367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DB9BCB-0EEC-DF2B-5B0C-C40CB0A74B84}"/>
              </a:ext>
            </a:extLst>
          </p:cNvPr>
          <p:cNvSpPr txBox="1"/>
          <p:nvPr/>
        </p:nvSpPr>
        <p:spPr>
          <a:xfrm>
            <a:off x="472440" y="350520"/>
            <a:ext cx="8682990" cy="5444054"/>
          </a:xfrm>
          <a:prstGeom prst="rect">
            <a:avLst/>
          </a:prstGeom>
          <a:noFill/>
        </p:spPr>
        <p:txBody>
          <a:bodyPr wrap="square">
            <a:spAutoFit/>
          </a:bodyPr>
          <a:lstStyle/>
          <a:p>
            <a:pPr marL="0" marR="0">
              <a:lnSpc>
                <a:spcPct val="150000"/>
              </a:lnSpc>
              <a:buNone/>
            </a:pPr>
            <a:r>
              <a:rPr lang="en-IN" sz="1800" b="1" dirty="0">
                <a:effectLst/>
                <a:latin typeface="Times New Roman" panose="02020603050405020304" pitchFamily="18" charset="0"/>
                <a:ea typeface="Times New Roman" panose="02020603050405020304" pitchFamily="18" charset="0"/>
              </a:rPr>
              <a:t>OUTPUT: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Actual Predicted Probability</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1      0         0       0.009</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2      0         0       0.004</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3      0         0       0.009</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4      0         0       0.031</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5      0         0       0.467</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6      0         0       0.035</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b="1" dirty="0">
                <a:effectLst/>
                <a:latin typeface="Times New Roman" panose="02020603050405020304" pitchFamily="18" charset="0"/>
                <a:ea typeface="Times New Roman" panose="02020603050405020304" pitchFamily="18" charset="0"/>
              </a:rPr>
              <a:t>7.</a:t>
            </a:r>
            <a:r>
              <a:rPr lang="en-IN" sz="1800" b="1" u="sng" dirty="0">
                <a:effectLst/>
                <a:latin typeface="Times New Roman" panose="02020603050405020304" pitchFamily="18" charset="0"/>
                <a:ea typeface="Times New Roman" panose="02020603050405020304" pitchFamily="18" charset="0"/>
              </a:rPr>
              <a:t>Calculate accuracy</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&gt; accuracy &lt;- mean(</a:t>
            </a:r>
            <a:r>
              <a:rPr lang="en-IN" sz="1800" dirty="0" err="1">
                <a:effectLst/>
                <a:latin typeface="Times New Roman" panose="02020603050405020304" pitchFamily="18" charset="0"/>
                <a:ea typeface="Times New Roman" panose="02020603050405020304" pitchFamily="18" charset="0"/>
              </a:rPr>
              <a:t>comparison$Actual</a:t>
            </a:r>
            <a:r>
              <a:rPr lang="en-IN" sz="1800" dirty="0">
                <a:effectLst/>
                <a:latin typeface="Times New Roman" panose="02020603050405020304" pitchFamily="18" charset="0"/>
                <a:ea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rPr>
              <a:t>comparison$Predicted</a:t>
            </a:r>
            <a:r>
              <a:rPr lang="en-IN"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&gt; cat("Accuracy on test data:", round(accuracy * 100, 2), "%\n")</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b="1" dirty="0">
                <a:effectLst/>
                <a:latin typeface="Times New Roman" panose="02020603050405020304" pitchFamily="18" charset="0"/>
                <a:ea typeface="Times New Roman" panose="02020603050405020304" pitchFamily="18" charset="0"/>
              </a:rPr>
              <a:t>OUTPUT: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pPr>
            <a:r>
              <a:rPr lang="en-IN" sz="1800" dirty="0">
                <a:effectLst/>
                <a:latin typeface="Times New Roman" panose="02020603050405020304" pitchFamily="18" charset="0"/>
                <a:ea typeface="Times New Roman" panose="02020603050405020304" pitchFamily="18" charset="0"/>
              </a:rPr>
              <a:t>Accuracy on test data: 85.37 %</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3180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79A6BB-F4FA-076A-51D9-D9A6618C9527}"/>
              </a:ext>
            </a:extLst>
          </p:cNvPr>
          <p:cNvSpPr txBox="1"/>
          <p:nvPr/>
        </p:nvSpPr>
        <p:spPr>
          <a:xfrm>
            <a:off x="320040" y="182880"/>
            <a:ext cx="8835390" cy="5859553"/>
          </a:xfrm>
          <a:prstGeom prst="rect">
            <a:avLst/>
          </a:prstGeom>
          <a:noFill/>
        </p:spPr>
        <p:txBody>
          <a:bodyPr wrap="square">
            <a:spAutoFit/>
          </a:bodyPr>
          <a:lstStyle/>
          <a:p>
            <a:pPr marL="0" marR="0">
              <a:lnSpc>
                <a:spcPct val="150000"/>
              </a:lnSpc>
              <a:buNone/>
            </a:pPr>
            <a:r>
              <a:rPr lang="en-IN" sz="1800" b="1" dirty="0">
                <a:effectLst/>
                <a:latin typeface="Times New Roman" panose="02020603050405020304" pitchFamily="18" charset="0"/>
                <a:ea typeface="Times New Roman" panose="02020603050405020304" pitchFamily="18" charset="0"/>
              </a:rPr>
              <a:t>8.</a:t>
            </a:r>
            <a:r>
              <a:rPr lang="en-IN" sz="1800" b="1" u="sng" dirty="0">
                <a:effectLst/>
                <a:latin typeface="Times New Roman" panose="02020603050405020304" pitchFamily="18" charset="0"/>
                <a:ea typeface="Times New Roman" panose="02020603050405020304" pitchFamily="18" charset="0"/>
              </a:rPr>
              <a:t>Evaluate Model Performance</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Compare the predicted classes to the actual classes in your test data to assess model accuracy. For instance, you can create a confusion matrix:</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table(Actual = </a:t>
            </a:r>
            <a:r>
              <a:rPr lang="en-IN" sz="1800" dirty="0" err="1">
                <a:effectLst/>
                <a:latin typeface="Times New Roman" panose="02020603050405020304" pitchFamily="18" charset="0"/>
                <a:ea typeface="Times New Roman" panose="02020603050405020304" pitchFamily="18" charset="0"/>
              </a:rPr>
              <a:t>comparison$Actual</a:t>
            </a:r>
            <a:r>
              <a:rPr lang="en-IN" sz="1800" dirty="0">
                <a:effectLst/>
                <a:latin typeface="Times New Roman" panose="02020603050405020304" pitchFamily="18" charset="0"/>
                <a:ea typeface="Times New Roman" panose="02020603050405020304" pitchFamily="18" charset="0"/>
              </a:rPr>
              <a:t>, Predicted = </a:t>
            </a:r>
            <a:r>
              <a:rPr lang="en-IN" sz="1800" dirty="0" err="1">
                <a:effectLst/>
                <a:latin typeface="Times New Roman" panose="02020603050405020304" pitchFamily="18" charset="0"/>
                <a:ea typeface="Times New Roman" panose="02020603050405020304" pitchFamily="18" charset="0"/>
              </a:rPr>
              <a:t>comparison$Predicted</a:t>
            </a:r>
            <a:r>
              <a:rPr lang="en-IN" sz="1800"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b="1" dirty="0">
                <a:effectLst/>
                <a:latin typeface="Times New Roman" panose="02020603050405020304" pitchFamily="18" charset="0"/>
                <a:ea typeface="Times New Roman" panose="02020603050405020304" pitchFamily="18" charset="0"/>
              </a:rPr>
              <a:t>OUTPUT: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Predicted</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Actual  0  1</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     0 49  5</a:t>
            </a:r>
            <a:endParaRPr lang="en-US" sz="1600" dirty="0">
              <a:effectLst/>
              <a:latin typeface="Times New Roman" panose="02020603050405020304" pitchFamily="18" charset="0"/>
              <a:ea typeface="Times New Roman" panose="02020603050405020304" pitchFamily="18" charset="0"/>
            </a:endParaRPr>
          </a:p>
          <a:p>
            <a:pPr marL="342900" marR="0" lvl="0" indent="-342900">
              <a:lnSpc>
                <a:spcPct val="150000"/>
              </a:lnSpc>
              <a:buFont typeface="+mj-lt"/>
              <a:buAutoNum type="arabicPeriod"/>
            </a:pPr>
            <a:r>
              <a:rPr lang="en-IN" sz="1800" dirty="0">
                <a:effectLst/>
                <a:latin typeface="Times New Roman" panose="02020603050405020304" pitchFamily="18" charset="0"/>
                <a:ea typeface="Times New Roman" panose="02020603050405020304" pitchFamily="18" charset="0"/>
              </a:rPr>
              <a:t>7 21</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nSpc>
                <a:spcPct val="150000"/>
              </a:lnSpc>
              <a:buNone/>
            </a:pPr>
            <a:r>
              <a:rPr lang="en-IN" sz="1800" b="1" dirty="0">
                <a:effectLst/>
                <a:latin typeface="Times New Roman" panose="02020603050405020304" pitchFamily="18" charset="0"/>
                <a:ea typeface="Times New Roman" panose="02020603050405020304" pitchFamily="18" charset="0"/>
              </a:rPr>
              <a:t>9.</a:t>
            </a:r>
            <a:r>
              <a:rPr lang="en-IN" sz="1800" b="1" u="sng" dirty="0">
                <a:effectLst/>
                <a:latin typeface="Times New Roman" panose="02020603050405020304" pitchFamily="18" charset="0"/>
                <a:ea typeface="Times New Roman" panose="02020603050405020304" pitchFamily="18" charset="0"/>
              </a:rPr>
              <a:t>INTERPRETATION</a:t>
            </a:r>
            <a:r>
              <a:rPr lang="en-IN" sz="1800" b="1" dirty="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a:lnSpc>
                <a:spcPct val="150000"/>
              </a:lnSpc>
            </a:pPr>
            <a:r>
              <a:rPr lang="en-IN" sz="1800" dirty="0">
                <a:effectLst/>
                <a:latin typeface="Times New Roman" panose="02020603050405020304" pitchFamily="18" charset="0"/>
                <a:ea typeface="Times New Roman" panose="02020603050405020304" pitchFamily="18" charset="0"/>
              </a:rPr>
              <a:t>In logistic regression, coefficients represent the change in the log-odds of the outcome for a one-unit increase in the predictor variable, holding other variables constant. Exponentiating these coefficients yields the odds ratios, which are more interpretable.</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30203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200ACC-6552-8F92-4B50-9C82A33E4A1A}"/>
              </a:ext>
            </a:extLst>
          </p:cNvPr>
          <p:cNvSpPr txBox="1"/>
          <p:nvPr/>
        </p:nvSpPr>
        <p:spPr>
          <a:xfrm>
            <a:off x="640080" y="594360"/>
            <a:ext cx="8515350" cy="4336059"/>
          </a:xfrm>
          <a:prstGeom prst="rect">
            <a:avLst/>
          </a:prstGeom>
          <a:noFill/>
        </p:spPr>
        <p:txBody>
          <a:bodyPr wrap="square">
            <a:spAutoFit/>
          </a:bodyPr>
          <a:lstStyle/>
          <a:p>
            <a:pPr marL="0" marR="0" algn="ctr">
              <a:buNone/>
            </a:pPr>
            <a:r>
              <a:rPr lang="pt-BR" sz="2400" b="1" dirty="0">
                <a:effectLst/>
                <a:latin typeface="Times New Roman" panose="02020603050405020304" pitchFamily="18" charset="0"/>
                <a:ea typeface="Times New Roman" panose="02020603050405020304" pitchFamily="18" charset="0"/>
              </a:rPr>
              <a:t>REFERENCE</a:t>
            </a:r>
            <a:endParaRPr lang="en-US" sz="2000" dirty="0">
              <a:effectLst/>
              <a:latin typeface="Times New Roman" panose="02020603050405020304" pitchFamily="18" charset="0"/>
              <a:ea typeface="Times New Roman" panose="02020603050405020304" pitchFamily="18" charset="0"/>
            </a:endParaRPr>
          </a:p>
          <a:p>
            <a:pPr marL="0" marR="0" algn="ctr">
              <a:buNone/>
            </a:pPr>
            <a:r>
              <a:rPr lang="pt-BR" sz="1800" b="1"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buFont typeface="Symbol" panose="05050102010706020507" pitchFamily="18" charset="2"/>
              <a:buChar char=""/>
            </a:pPr>
            <a:r>
              <a:rPr lang="pt-BR" sz="2000" u="sng" dirty="0">
                <a:solidFill>
                  <a:srgbClr val="467886"/>
                </a:solidFill>
                <a:effectLst/>
                <a:latin typeface="Times New Roman" panose="02020603050405020304" pitchFamily="18" charset="0"/>
                <a:ea typeface="Times New Roman" panose="02020603050405020304" pitchFamily="18" charset="0"/>
                <a:hlinkClick r:id="rId2"/>
              </a:rPr>
              <a:t>https://www.kaggle.com/datasets/akashnath29/lung-cancer-dataset</a:t>
            </a:r>
            <a:endParaRPr lang="en-US" dirty="0">
              <a:effectLst/>
              <a:latin typeface="Times New Roman" panose="02020603050405020304" pitchFamily="18" charset="0"/>
              <a:ea typeface="Times New Roman" panose="02020603050405020304" pitchFamily="18" charset="0"/>
            </a:endParaRPr>
          </a:p>
          <a:p>
            <a:pPr marL="342900" marR="0" lvl="0" indent="-342900" algn="just">
              <a:lnSpc>
                <a:spcPct val="150000"/>
              </a:lnSpc>
              <a:buFont typeface="Symbol" panose="05050102010706020507" pitchFamily="18" charset="2"/>
              <a:buChar char=""/>
            </a:pPr>
            <a:r>
              <a:rPr lang="pt-BR" sz="2000" u="sng" dirty="0">
                <a:solidFill>
                  <a:srgbClr val="467886"/>
                </a:solidFill>
                <a:effectLst/>
                <a:latin typeface="Times New Roman" panose="02020603050405020304" pitchFamily="18" charset="0"/>
                <a:ea typeface="Times New Roman" panose="02020603050405020304" pitchFamily="18" charset="0"/>
                <a:hlinkClick r:id="rId3"/>
              </a:rPr>
              <a:t>https://my.clevelandclinic.org/health/diseases/4375-lung-cancer</a:t>
            </a:r>
            <a:endParaRPr lang="en-US" dirty="0">
              <a:effectLst/>
              <a:latin typeface="Times New Roman" panose="02020603050405020304" pitchFamily="18" charset="0"/>
              <a:ea typeface="Times New Roman" panose="02020603050405020304" pitchFamily="18" charset="0"/>
            </a:endParaRPr>
          </a:p>
          <a:p>
            <a:pPr marL="342900" marR="0" lvl="0" indent="-342900" algn="just">
              <a:lnSpc>
                <a:spcPct val="150000"/>
              </a:lnSpc>
              <a:buFont typeface="Symbol" panose="05050102010706020507" pitchFamily="18" charset="2"/>
              <a:buChar char=""/>
            </a:pPr>
            <a:r>
              <a:rPr lang="pt-BR" sz="2000" u="sng" dirty="0">
                <a:solidFill>
                  <a:srgbClr val="467886"/>
                </a:solidFill>
                <a:effectLst/>
                <a:latin typeface="Times New Roman" panose="02020603050405020304" pitchFamily="18" charset="0"/>
                <a:ea typeface="Times New Roman" panose="02020603050405020304" pitchFamily="18" charset="0"/>
                <a:hlinkClick r:id="rId4"/>
              </a:rPr>
              <a:t>https://sjcit.ac.in/wp-content/uploads/2022/11/006007027028.pdf</a:t>
            </a:r>
            <a:endParaRPr lang="en-US" dirty="0">
              <a:effectLst/>
              <a:latin typeface="Times New Roman" panose="02020603050405020304" pitchFamily="18" charset="0"/>
              <a:ea typeface="Times New Roman" panose="02020603050405020304" pitchFamily="18" charset="0"/>
            </a:endParaRPr>
          </a:p>
          <a:p>
            <a:pPr marL="342900" marR="0" lvl="0" indent="-342900" algn="just">
              <a:lnSpc>
                <a:spcPct val="150000"/>
              </a:lnSpc>
              <a:buFont typeface="Symbol" panose="05050102010706020507" pitchFamily="18" charset="2"/>
              <a:buChar char=""/>
            </a:pPr>
            <a:r>
              <a:rPr lang="pt-BR" sz="2000" u="sng" dirty="0">
                <a:solidFill>
                  <a:srgbClr val="467886"/>
                </a:solidFill>
                <a:effectLst/>
                <a:latin typeface="Times New Roman" panose="02020603050405020304" pitchFamily="18" charset="0"/>
                <a:ea typeface="Times New Roman" panose="02020603050405020304" pitchFamily="18" charset="0"/>
                <a:hlinkClick r:id="rId5"/>
              </a:rPr>
              <a:t>https://en.m.wikipedia.org/wiki/Logistic_regression</a:t>
            </a:r>
            <a:endParaRPr lang="en-US" dirty="0">
              <a:effectLst/>
              <a:latin typeface="Times New Roman" panose="02020603050405020304" pitchFamily="18" charset="0"/>
              <a:ea typeface="Times New Roman" panose="02020603050405020304" pitchFamily="18" charset="0"/>
            </a:endParaRPr>
          </a:p>
          <a:p>
            <a:pPr marL="342900" marR="0" lvl="0" indent="-342900" algn="just">
              <a:lnSpc>
                <a:spcPct val="150000"/>
              </a:lnSpc>
              <a:buFont typeface="Symbol" panose="05050102010706020507" pitchFamily="18" charset="2"/>
              <a:buChar char=""/>
            </a:pPr>
            <a:r>
              <a:rPr lang="pt-BR" sz="2000" u="sng" dirty="0">
                <a:solidFill>
                  <a:srgbClr val="467886"/>
                </a:solidFill>
                <a:effectLst/>
                <a:latin typeface="Times New Roman" panose="02020603050405020304" pitchFamily="18" charset="0"/>
                <a:ea typeface="Times New Roman" panose="02020603050405020304" pitchFamily="18" charset="0"/>
                <a:hlinkClick r:id="rId6"/>
              </a:rPr>
              <a:t>https://stats.oarc.ucla.edu/r/dae/logit-regression/</a:t>
            </a:r>
            <a:endParaRPr lang="en-US" dirty="0">
              <a:effectLst/>
              <a:latin typeface="Times New Roman" panose="02020603050405020304" pitchFamily="18" charset="0"/>
              <a:ea typeface="Times New Roman" panose="02020603050405020304" pitchFamily="18" charset="0"/>
            </a:endParaRPr>
          </a:p>
          <a:p>
            <a:pPr marL="342900" marR="0" lvl="0" indent="-342900" algn="just">
              <a:lnSpc>
                <a:spcPct val="150000"/>
              </a:lnSpc>
              <a:buFont typeface="Symbol" panose="05050102010706020507" pitchFamily="18" charset="2"/>
              <a:buChar char=""/>
            </a:pPr>
            <a:r>
              <a:rPr lang="pt-BR" sz="2000" u="sng" kern="100" dirty="0">
                <a:solidFill>
                  <a:srgbClr val="467886"/>
                </a:solidFill>
                <a:effectLst/>
                <a:latin typeface="Times New Roman" panose="02020603050405020304" pitchFamily="18" charset="0"/>
                <a:ea typeface="Calibri" panose="020F0502020204030204" pitchFamily="34" charset="0"/>
                <a:cs typeface="Times New Roman" panose="02020603050405020304" pitchFamily="18" charset="0"/>
                <a:hlinkClick r:id="rId7"/>
              </a:rPr>
              <a:t>https://www.unife.it/economia/lm.economics/lectures/applied-econometrics/materiale-didattico-2018-2019/Maddala.pdf</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pt-BR" sz="2000" u="sng" dirty="0">
                <a:solidFill>
                  <a:srgbClr val="467886"/>
                </a:solidFill>
                <a:effectLst/>
                <a:latin typeface="Times New Roman" panose="02020603050405020304" pitchFamily="18" charset="0"/>
                <a:ea typeface="Times New Roman" panose="02020603050405020304" pitchFamily="18" charset="0"/>
                <a:hlinkClick r:id="rId8"/>
              </a:rPr>
              <a:t>https://chatgpt.com/c/68260d95-7de0-800a-9445-99fbc3dbadf3</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69683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0"/>
            <a:ext cx="11092721" cy="6858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8800" b="1" i="1" dirty="0">
                <a:latin typeface="Arial Black" pitchFamily="34" charset="0"/>
              </a:rPr>
              <a:t>THANK YOU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4267201"/>
            <a:ext cx="2438400" cy="1762125"/>
          </a:xfrm>
          <a:prstGeom prst="rect">
            <a:avLst/>
          </a:prstGeom>
          <a:ln>
            <a:noFill/>
          </a:ln>
          <a:effectLst>
            <a:softEdge rad="112500"/>
          </a:effectLst>
        </p:spPr>
      </p:pic>
    </p:spTree>
    <p:extLst>
      <p:ext uri="{BB962C8B-B14F-4D97-AF65-F5344CB8AC3E}">
        <p14:creationId xmlns:p14="http://schemas.microsoft.com/office/powerpoint/2010/main" val="15882964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194</TotalTime>
  <Words>3995</Words>
  <Application>Microsoft Office PowerPoint</Application>
  <PresentationFormat>Widescreen</PresentationFormat>
  <Paragraphs>266</Paragraphs>
  <Slides>30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Aptos</vt:lpstr>
      <vt:lpstr>Arial</vt:lpstr>
      <vt:lpstr>Arial Black</vt:lpstr>
      <vt:lpstr>Calibri</vt:lpstr>
      <vt:lpstr>Symbol</vt:lpstr>
      <vt:lpstr>Times New Roman</vt:lpstr>
      <vt:lpstr>Trebuchet MS</vt:lpstr>
      <vt:lpstr>Wingdings</vt:lpstr>
      <vt:lpstr>Wingdings 3</vt:lpstr>
      <vt:lpstr>Facet</vt:lpstr>
      <vt:lpstr>  WELCOME</vt:lpstr>
      <vt:lpstr>PREDICTION OF LUNG CANCER  USING LOGISTIC REGRESSION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chamu gulla</dc:creator>
  <cp:lastModifiedBy>chamu gulla</cp:lastModifiedBy>
  <cp:revision>1</cp:revision>
  <dcterms:created xsi:type="dcterms:W3CDTF">2025-06-07T12:17:10Z</dcterms:created>
  <dcterms:modified xsi:type="dcterms:W3CDTF">2025-06-07T15:43:57Z</dcterms:modified>
</cp:coreProperties>
</file>